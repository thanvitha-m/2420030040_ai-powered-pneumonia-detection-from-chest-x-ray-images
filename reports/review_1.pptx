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 id="2147483719" r:id="rId2"/>
    <p:sldMasterId id="2147483707" r:id="rId3"/>
    <p:sldMasterId id="2147483755" r:id="rId4"/>
  </p:sldMasterIdLst>
  <p:notesMasterIdLst>
    <p:notesMasterId r:id="rId16"/>
  </p:notesMasterIdLst>
  <p:handoutMasterIdLst>
    <p:handoutMasterId r:id="rId17"/>
  </p:handoutMasterIdLst>
  <p:sldIdLst>
    <p:sldId id="256" r:id="rId5"/>
    <p:sldId id="263" r:id="rId6"/>
    <p:sldId id="265" r:id="rId7"/>
    <p:sldId id="266" r:id="rId8"/>
    <p:sldId id="267" r:id="rId9"/>
    <p:sldId id="396" r:id="rId10"/>
    <p:sldId id="398" r:id="rId11"/>
    <p:sldId id="399" r:id="rId12"/>
    <p:sldId id="322" r:id="rId13"/>
    <p:sldId id="401" r:id="rId14"/>
    <p:sldId id="40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AFF2"/>
    <a:srgbClr val="71BB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notesViewPr>
    <p:cSldViewPr snapToGrid="0">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Thanvitha" userId="e60adfe4818120f4" providerId="LiveId" clId="{48049ECB-6A9B-4AE2-B4C7-26F2AA572E07}"/>
    <pc:docChg chg="undo custSel addSld delSld">
      <pc:chgData name="M Thanvitha" userId="e60adfe4818120f4" providerId="LiveId" clId="{48049ECB-6A9B-4AE2-B4C7-26F2AA572E07}" dt="2026-09-24T05:37:41.237" v="11" actId="47"/>
      <pc:docMkLst>
        <pc:docMk/>
      </pc:docMkLst>
      <pc:sldChg chg="add del">
        <pc:chgData name="M Thanvitha" userId="e60adfe4818120f4" providerId="LiveId" clId="{48049ECB-6A9B-4AE2-B4C7-26F2AA572E07}" dt="2026-09-24T05:37:41.237" v="11" actId="47"/>
        <pc:sldMkLst>
          <pc:docMk/>
          <pc:sldMk cId="3488524852" sldId="400"/>
        </pc:sldMkLst>
      </pc:sldChg>
      <pc:sldChg chg="del">
        <pc:chgData name="M Thanvitha" userId="e60adfe4818120f4" providerId="LiveId" clId="{48049ECB-6A9B-4AE2-B4C7-26F2AA572E07}" dt="2026-09-24T05:37:31.058" v="1" actId="47"/>
        <pc:sldMkLst>
          <pc:docMk/>
          <pc:sldMk cId="1612886219" sldId="402"/>
        </pc:sldMkLst>
      </pc:sldChg>
      <pc:sldChg chg="del">
        <pc:chgData name="M Thanvitha" userId="e60adfe4818120f4" providerId="LiveId" clId="{48049ECB-6A9B-4AE2-B4C7-26F2AA572E07}" dt="2026-09-24T05:37:31.645" v="2" actId="47"/>
        <pc:sldMkLst>
          <pc:docMk/>
          <pc:sldMk cId="2360104627" sldId="403"/>
        </pc:sldMkLst>
      </pc:sldChg>
      <pc:sldChg chg="del">
        <pc:chgData name="M Thanvitha" userId="e60adfe4818120f4" providerId="LiveId" clId="{48049ECB-6A9B-4AE2-B4C7-26F2AA572E07}" dt="2026-09-24T05:37:32.181" v="3" actId="47"/>
        <pc:sldMkLst>
          <pc:docMk/>
          <pc:sldMk cId="1745728302" sldId="404"/>
        </pc:sldMkLst>
      </pc:sldChg>
      <pc:sldChg chg="del">
        <pc:chgData name="M Thanvitha" userId="e60adfe4818120f4" providerId="LiveId" clId="{48049ECB-6A9B-4AE2-B4C7-26F2AA572E07}" dt="2026-09-24T05:37:32.775" v="4" actId="47"/>
        <pc:sldMkLst>
          <pc:docMk/>
          <pc:sldMk cId="932361737" sldId="405"/>
        </pc:sldMkLst>
      </pc:sldChg>
      <pc:sldChg chg="del">
        <pc:chgData name="M Thanvitha" userId="e60adfe4818120f4" providerId="LiveId" clId="{48049ECB-6A9B-4AE2-B4C7-26F2AA572E07}" dt="2026-09-24T05:37:33.183" v="5" actId="47"/>
        <pc:sldMkLst>
          <pc:docMk/>
          <pc:sldMk cId="2214995693" sldId="406"/>
        </pc:sldMkLst>
      </pc:sldChg>
      <pc:sldChg chg="del">
        <pc:chgData name="M Thanvitha" userId="e60adfe4818120f4" providerId="LiveId" clId="{48049ECB-6A9B-4AE2-B4C7-26F2AA572E07}" dt="2026-09-24T05:37:33.576" v="6" actId="47"/>
        <pc:sldMkLst>
          <pc:docMk/>
          <pc:sldMk cId="1918609342" sldId="407"/>
        </pc:sldMkLst>
      </pc:sldChg>
      <pc:sldChg chg="del">
        <pc:chgData name="M Thanvitha" userId="e60adfe4818120f4" providerId="LiveId" clId="{48049ECB-6A9B-4AE2-B4C7-26F2AA572E07}" dt="2026-09-24T05:37:36.375" v="7" actId="47"/>
        <pc:sldMkLst>
          <pc:docMk/>
          <pc:sldMk cId="3194813754" sldId="408"/>
        </pc:sldMkLst>
      </pc:sldChg>
      <pc:sldChg chg="del">
        <pc:chgData name="M Thanvitha" userId="e60adfe4818120f4" providerId="LiveId" clId="{48049ECB-6A9B-4AE2-B4C7-26F2AA572E07}" dt="2026-09-24T05:37:37.069" v="8" actId="47"/>
        <pc:sldMkLst>
          <pc:docMk/>
          <pc:sldMk cId="2277851726" sldId="409"/>
        </pc:sldMkLst>
      </pc:sldChg>
      <pc:sldChg chg="del">
        <pc:chgData name="M Thanvitha" userId="e60adfe4818120f4" providerId="LiveId" clId="{48049ECB-6A9B-4AE2-B4C7-26F2AA572E07}" dt="2026-09-24T05:37:37.479" v="9" actId="47"/>
        <pc:sldMkLst>
          <pc:docMk/>
          <pc:sldMk cId="3107834802" sldId="410"/>
        </pc:sldMkLst>
      </pc:sldChg>
      <pc:sldChg chg="del">
        <pc:chgData name="M Thanvitha" userId="e60adfe4818120f4" providerId="LiveId" clId="{48049ECB-6A9B-4AE2-B4C7-26F2AA572E07}" dt="2026-09-24T05:37:24.249" v="0" actId="47"/>
        <pc:sldMkLst>
          <pc:docMk/>
          <pc:sldMk cId="1470752644" sldId="4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CF1BD0-4285-1DBF-1F85-12A9C003EC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449A90F-9E6F-2BBD-E4C1-F231DFECBE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51894C-48C1-41F1-A201-34DB6CBBBBE6}" type="datetimeFigureOut">
              <a:rPr lang="en-IN" smtClean="0"/>
              <a:t>24-09-2026</a:t>
            </a:fld>
            <a:endParaRPr lang="en-IN"/>
          </a:p>
        </p:txBody>
      </p:sp>
      <p:sp>
        <p:nvSpPr>
          <p:cNvPr id="4" name="Footer Placeholder 3">
            <a:extLst>
              <a:ext uri="{FF2B5EF4-FFF2-40B4-BE49-F238E27FC236}">
                <a16:creationId xmlns:a16="http://schemas.microsoft.com/office/drawing/2014/main" id="{8412C0E8-5C08-8DCD-99CD-96B540853B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96225E5-1D19-4F74-0CA3-0BC39FA2D18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6C6DEB-6FF4-483C-BBA0-B325BADB0565}" type="slidenum">
              <a:rPr lang="en-IN" smtClean="0"/>
              <a:t>‹#›</a:t>
            </a:fld>
            <a:endParaRPr lang="en-IN"/>
          </a:p>
        </p:txBody>
      </p:sp>
    </p:spTree>
    <p:extLst>
      <p:ext uri="{BB962C8B-B14F-4D97-AF65-F5344CB8AC3E}">
        <p14:creationId xmlns:p14="http://schemas.microsoft.com/office/powerpoint/2010/main" val="414684604"/>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D586D-DA7F-403D-AF89-CB8CBB1EF597}" type="datetimeFigureOut">
              <a:rPr lang="en-IN" smtClean="0"/>
              <a:t>24-09-2026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E15E5-07B6-40CA-8D0D-6845CA1DD11C}" type="slidenum">
              <a:rPr lang="en-IN" smtClean="0"/>
              <a:t>‹#›</a:t>
            </a:fld>
            <a:endParaRPr lang="en-IN"/>
          </a:p>
        </p:txBody>
      </p:sp>
    </p:spTree>
    <p:extLst>
      <p:ext uri="{BB962C8B-B14F-4D97-AF65-F5344CB8AC3E}">
        <p14:creationId xmlns:p14="http://schemas.microsoft.com/office/powerpoint/2010/main" val="350452626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3788910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Footer Placeholder 4"/>
          <p:cNvSpPr>
            <a:spLocks noGrp="1"/>
          </p:cNvSpPr>
          <p:nvPr>
            <p:ph type="ftr" sz="quarter" idx="4"/>
          </p:nvPr>
        </p:nvSpPr>
        <p:spPr/>
        <p:txBody>
          <a:bodyPr/>
          <a:lstStyle/>
          <a:p>
            <a:endParaRPr lang="en-IN"/>
          </a:p>
        </p:txBody>
      </p:sp>
    </p:spTree>
    <p:extLst>
      <p:ext uri="{BB962C8B-B14F-4D97-AF65-F5344CB8AC3E}">
        <p14:creationId xmlns:p14="http://schemas.microsoft.com/office/powerpoint/2010/main" val="1273940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F2AE0-10FC-426C-0BDB-E5EDF2F917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83E875-E3B7-3652-9C2D-322C85117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11841AC-ABFE-7C19-D82D-6C99A5B39B02}"/>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5" name="Footer Placeholder 4">
            <a:extLst>
              <a:ext uri="{FF2B5EF4-FFF2-40B4-BE49-F238E27FC236}">
                <a16:creationId xmlns:a16="http://schemas.microsoft.com/office/drawing/2014/main" id="{39680885-ABC1-FB6C-B5FB-24D6B3FBAC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47DC9D-19CD-B202-2B83-E0899E44524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859775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001F-787C-85EC-646A-75EEC5EB37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BF2371-B883-4891-AB2F-F7A6DECF37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8AFCBC-7CDF-1083-43D2-7537F13F341F}"/>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5" name="Footer Placeholder 4">
            <a:extLst>
              <a:ext uri="{FF2B5EF4-FFF2-40B4-BE49-F238E27FC236}">
                <a16:creationId xmlns:a16="http://schemas.microsoft.com/office/drawing/2014/main" id="{8E43B008-8F2A-6C21-B917-4A4987FEA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01356-BC6B-79BE-2C81-FAB97E0994EB}"/>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983338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31EE1-438F-6B19-E833-B0AABFA3D7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6086E3-B9A4-8ECE-6979-FA4F575AA9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02C63F-668F-F11D-D4E9-8FF555F107BD}"/>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5" name="Footer Placeholder 4">
            <a:extLst>
              <a:ext uri="{FF2B5EF4-FFF2-40B4-BE49-F238E27FC236}">
                <a16:creationId xmlns:a16="http://schemas.microsoft.com/office/drawing/2014/main" id="{19B8B1E7-9509-C949-3D6D-07B2A6C5B5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1C8284-31CD-BD88-D5A6-B3C27D6C349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44471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7EFB4-D658-6814-F065-5E9C6419AE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216235-C3A8-F060-30C7-0FFDD2CBC3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D1B408-6CEC-1F37-36CA-5765C1E278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32379E-606B-C181-DA9D-53E859FD2062}"/>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6" name="Footer Placeholder 5">
            <a:extLst>
              <a:ext uri="{FF2B5EF4-FFF2-40B4-BE49-F238E27FC236}">
                <a16:creationId xmlns:a16="http://schemas.microsoft.com/office/drawing/2014/main" id="{1DE78BF4-0F10-5E48-1C57-4766C37BA5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925577-7D15-A784-D602-C2EF5F4BECAC}"/>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584232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7B010-FF59-0CB7-4087-1CC665E8D7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06A10E-F566-59C7-C794-172B18FFFA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DADCB8-B9B3-6FC5-E50D-D7693B0C06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931BBB-5BB6-56F1-B332-0E7C857AD7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834126-F3FE-BF3B-C669-34B160F359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DAAAE8-DC57-C01B-79C4-A6DDCDD0B588}"/>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8" name="Footer Placeholder 7">
            <a:extLst>
              <a:ext uri="{FF2B5EF4-FFF2-40B4-BE49-F238E27FC236}">
                <a16:creationId xmlns:a16="http://schemas.microsoft.com/office/drawing/2014/main" id="{90978D50-BF56-325F-3BA9-7086F2D8904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E1807C-9917-1E23-B74A-55208340B9DD}"/>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089587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971EB-AB59-B523-AC91-1EA0C69063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32BB51-D151-4018-E94C-9492D14A2E20}"/>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4" name="Footer Placeholder 3">
            <a:extLst>
              <a:ext uri="{FF2B5EF4-FFF2-40B4-BE49-F238E27FC236}">
                <a16:creationId xmlns:a16="http://schemas.microsoft.com/office/drawing/2014/main" id="{6CA76A11-3EFF-9F2E-7592-FC46C91DE8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7E4494-87A1-9015-81E3-AB1F67ADDF40}"/>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3337207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7C2251-4AD5-6CC6-554E-ACA868802A17}"/>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3" name="Footer Placeholder 2">
            <a:extLst>
              <a:ext uri="{FF2B5EF4-FFF2-40B4-BE49-F238E27FC236}">
                <a16:creationId xmlns:a16="http://schemas.microsoft.com/office/drawing/2014/main" id="{339E874E-4321-DEEB-AF2B-11C3E932AC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0854DB-44F2-EB81-AD02-3521BE282E75}"/>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259684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F300B-399B-1F5B-EAE1-123CB0B495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61BF94-CB3C-A8B2-E5D4-C36CE25CDC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1BE399-58D6-C8D0-6E62-3CCFC67D2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457D2B-22FA-E3BD-0160-4BB8741A0BC2}"/>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6" name="Footer Placeholder 5">
            <a:extLst>
              <a:ext uri="{FF2B5EF4-FFF2-40B4-BE49-F238E27FC236}">
                <a16:creationId xmlns:a16="http://schemas.microsoft.com/office/drawing/2014/main" id="{56ED5D03-8CBC-D73D-86C4-D4AEA7D7B0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29FACB-D6ED-6C3C-011B-654286285383}"/>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4181046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A36FA-3CFF-29E4-33DD-468945E22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801A5C-2B15-8CEE-60A8-415FCF7631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8917E3-6163-AA46-B140-9EB4F5FBAC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4199E-F1B5-870F-869F-027453C8E90E}"/>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6" name="Footer Placeholder 5">
            <a:extLst>
              <a:ext uri="{FF2B5EF4-FFF2-40B4-BE49-F238E27FC236}">
                <a16:creationId xmlns:a16="http://schemas.microsoft.com/office/drawing/2014/main" id="{790E109C-B14B-88CF-5190-BD96216D6D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F877B40-ED5C-2D77-3B00-4D0FB1410724}"/>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873152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7463-B71E-88C9-E822-48E99A7FF8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5BF2A4-9DBF-E1DE-3C4D-D911961340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88E53D-18F7-DDAB-669F-F896929AD619}"/>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5" name="Footer Placeholder 4">
            <a:extLst>
              <a:ext uri="{FF2B5EF4-FFF2-40B4-BE49-F238E27FC236}">
                <a16:creationId xmlns:a16="http://schemas.microsoft.com/office/drawing/2014/main" id="{1DBF3B6A-6945-DCAD-58BB-EB48FD3CC4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FD397C-22ED-7A15-B740-DB385AA4D5BF}"/>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120455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7C07D4-C03D-D87C-98C8-BBBB406AB2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35743A-07E6-96C7-BBAF-0203D5AC7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18118A-8632-A741-AE6E-B6027C2692DC}"/>
              </a:ext>
            </a:extLst>
          </p:cNvPr>
          <p:cNvSpPr>
            <a:spLocks noGrp="1"/>
          </p:cNvSpPr>
          <p:nvPr>
            <p:ph type="dt" sz="half" idx="10"/>
          </p:nvPr>
        </p:nvSpPr>
        <p:spPr/>
        <p:txBody>
          <a:bodyPr/>
          <a:lstStyle/>
          <a:p>
            <a:fld id="{9DBD89FD-1150-4979-9614-9DD9EB69C9AA}" type="datetimeFigureOut">
              <a:rPr lang="en-IN" smtClean="0"/>
              <a:t>24-09-2026</a:t>
            </a:fld>
            <a:endParaRPr lang="en-IN"/>
          </a:p>
        </p:txBody>
      </p:sp>
      <p:sp>
        <p:nvSpPr>
          <p:cNvPr id="5" name="Footer Placeholder 4">
            <a:extLst>
              <a:ext uri="{FF2B5EF4-FFF2-40B4-BE49-F238E27FC236}">
                <a16:creationId xmlns:a16="http://schemas.microsoft.com/office/drawing/2014/main" id="{CF57F320-8747-00ED-F9CE-DA3BE58E4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20E883-C54B-2C9A-10AC-7A9F284EDD05}"/>
              </a:ext>
            </a:extLst>
          </p:cNvPr>
          <p:cNvSpPr>
            <a:spLocks noGrp="1"/>
          </p:cNvSpPr>
          <p:nvPr>
            <p:ph type="sldNum" sz="quarter" idx="12"/>
          </p:nvPr>
        </p:nvSpPr>
        <p:spPr/>
        <p:txBody>
          <a:bodyPr/>
          <a:lstStyle/>
          <a:p>
            <a:fld id="{5871D4DB-F3A0-4149-BE4E-F155135AE119}" type="slidenum">
              <a:rPr lang="en-IN" smtClean="0"/>
              <a:t>‹#›</a:t>
            </a:fld>
            <a:endParaRPr lang="en-IN"/>
          </a:p>
        </p:txBody>
      </p:sp>
    </p:spTree>
    <p:extLst>
      <p:ext uri="{BB962C8B-B14F-4D97-AF65-F5344CB8AC3E}">
        <p14:creationId xmlns:p14="http://schemas.microsoft.com/office/powerpoint/2010/main" val="2471709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01C8-D491-2175-9058-3F6DFCE2C7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5AE508-A02A-99C7-5613-B94B7337C6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93E0A0-323B-05CB-B626-F1AE478EB195}"/>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5" name="Footer Placeholder 4">
            <a:extLst>
              <a:ext uri="{FF2B5EF4-FFF2-40B4-BE49-F238E27FC236}">
                <a16:creationId xmlns:a16="http://schemas.microsoft.com/office/drawing/2014/main" id="{54575BC5-CD0D-9CBC-38C6-7C29015F69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305E0C-F08F-962E-207F-417C2E7A926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8703079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E304-E6AE-3922-9A41-9270FF6ED0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EA0478-EFA8-16F8-0007-3E698DBA0C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0637BA-C0CF-BE0D-A4A2-B99399D3FA56}"/>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5" name="Footer Placeholder 4">
            <a:extLst>
              <a:ext uri="{FF2B5EF4-FFF2-40B4-BE49-F238E27FC236}">
                <a16:creationId xmlns:a16="http://schemas.microsoft.com/office/drawing/2014/main" id="{D3EB3544-E7EF-B90B-7123-043AE6E5D4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ED28D1-3A61-7B6D-E385-986EF42C1783}"/>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798180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FEA6-D58A-647D-9BB3-C8BB8A8B8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124FDA-69B0-3C1A-106E-04BB47D9E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92A197-8FEB-2E17-7C28-09BED68156F0}"/>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5" name="Footer Placeholder 4">
            <a:extLst>
              <a:ext uri="{FF2B5EF4-FFF2-40B4-BE49-F238E27FC236}">
                <a16:creationId xmlns:a16="http://schemas.microsoft.com/office/drawing/2014/main" id="{7E699017-CE42-83B3-49F7-31021CADB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9F764B-A203-707F-3333-F7E3B7CB37A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481532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85CE9-6EC1-A37D-E234-28A3EB3D61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C8B26E-9613-52FD-AB9E-A53E7BCD98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56B7B7-57F5-CBA8-9416-A94FA6ACF7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04694E-1E5E-9700-B6CD-4244ABC21E0B}"/>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6" name="Footer Placeholder 5">
            <a:extLst>
              <a:ext uri="{FF2B5EF4-FFF2-40B4-BE49-F238E27FC236}">
                <a16:creationId xmlns:a16="http://schemas.microsoft.com/office/drawing/2014/main" id="{91EA6A25-812C-197C-A392-01C8463025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9B391F-D01F-5022-7E76-89516160C68D}"/>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1515255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FC3AF-8AC8-B9B2-6D2E-47F15E5D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FFDD15-4508-717D-574A-86A0746B3B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3FD005-0876-6386-8200-7DB9C5E9D0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59816A-F9EE-79E0-8640-2AA32BF0A7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8F227-C99A-0BE8-E2D5-38EF096A9C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3C3B828-68FD-1497-2365-86E02D435469}"/>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8" name="Footer Placeholder 7">
            <a:extLst>
              <a:ext uri="{FF2B5EF4-FFF2-40B4-BE49-F238E27FC236}">
                <a16:creationId xmlns:a16="http://schemas.microsoft.com/office/drawing/2014/main" id="{9343CACA-4881-5DE9-2E90-A2E897B58A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65C47D-CF0F-61F2-F67C-3FA6B37DFE0F}"/>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126603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7D56E-0FD5-DF7C-68EA-DC17E48FB8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ECEF17-38CD-3751-C4AB-BFDB19B38146}"/>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4" name="Footer Placeholder 3">
            <a:extLst>
              <a:ext uri="{FF2B5EF4-FFF2-40B4-BE49-F238E27FC236}">
                <a16:creationId xmlns:a16="http://schemas.microsoft.com/office/drawing/2014/main" id="{BFE1B887-6CEF-B818-C9CD-7158F0CB4C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162570-4204-8E32-5E71-D489A80AC459}"/>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9867732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24B40E-1EAA-8AEF-A416-C770A8908ACD}"/>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3" name="Footer Placeholder 2">
            <a:extLst>
              <a:ext uri="{FF2B5EF4-FFF2-40B4-BE49-F238E27FC236}">
                <a16:creationId xmlns:a16="http://schemas.microsoft.com/office/drawing/2014/main" id="{D02FFDCD-940D-8E1E-9D26-08F41DA47ED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D96120-56E0-1BBB-23FC-05FE959F6D98}"/>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3580253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A1CC4-88F2-23FF-E085-E181C9A181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8AF40E-38A7-7E2D-2733-B41FFF7153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A9763F-CA21-1637-4481-44386C9C7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F77FE0-8C6A-51DF-1EB7-01E8E90E4AA4}"/>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6" name="Footer Placeholder 5">
            <a:extLst>
              <a:ext uri="{FF2B5EF4-FFF2-40B4-BE49-F238E27FC236}">
                <a16:creationId xmlns:a16="http://schemas.microsoft.com/office/drawing/2014/main" id="{34A3CFB1-188A-8165-AB6D-45C8E757C3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FDCC21-6BBD-3BC0-E487-0F68528AD8CA}"/>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2316025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EBEA-D782-5BC7-7866-4733364F6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59654B-1A8B-CFF6-7B0C-005A1009B0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6E49E8-EAD9-5366-72B0-C79C02262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073613-FE95-9ECA-EB7B-2A9D74612556}"/>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6" name="Footer Placeholder 5">
            <a:extLst>
              <a:ext uri="{FF2B5EF4-FFF2-40B4-BE49-F238E27FC236}">
                <a16:creationId xmlns:a16="http://schemas.microsoft.com/office/drawing/2014/main" id="{F1936428-F07B-7E31-8930-3DD7736AA8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14FA89-AAD0-FD26-26D2-8AE3B750DF7E}"/>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755083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3271-7728-ABFE-08BA-08541D5CD1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785F53-745D-5FE5-E22B-4FC16E8183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91A46D-ED0A-47EE-B5CC-D9E4A65443EF}"/>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5" name="Footer Placeholder 4">
            <a:extLst>
              <a:ext uri="{FF2B5EF4-FFF2-40B4-BE49-F238E27FC236}">
                <a16:creationId xmlns:a16="http://schemas.microsoft.com/office/drawing/2014/main" id="{732E6DF1-BEF5-405C-EC8A-859610E7C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B1E7E2-BB0D-D28E-849A-92453DFC87BB}"/>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075577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CC6B7D-EBAA-5823-1636-5EA5EA30D14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766CC8-A554-43B7-760F-9F5408002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4E45D6-8674-FF12-EC6D-CE372CB35266}"/>
              </a:ext>
            </a:extLst>
          </p:cNvPr>
          <p:cNvSpPr>
            <a:spLocks noGrp="1"/>
          </p:cNvSpPr>
          <p:nvPr>
            <p:ph type="dt" sz="half" idx="10"/>
          </p:nvPr>
        </p:nvSpPr>
        <p:spPr/>
        <p:txBody>
          <a:bodyPr/>
          <a:lstStyle/>
          <a:p>
            <a:fld id="{76E1380B-202A-4ADB-8029-48BBD470229E}" type="datetimeFigureOut">
              <a:rPr lang="en-IN" smtClean="0"/>
              <a:t>24-09-2026</a:t>
            </a:fld>
            <a:endParaRPr lang="en-IN"/>
          </a:p>
        </p:txBody>
      </p:sp>
      <p:sp>
        <p:nvSpPr>
          <p:cNvPr id="5" name="Footer Placeholder 4">
            <a:extLst>
              <a:ext uri="{FF2B5EF4-FFF2-40B4-BE49-F238E27FC236}">
                <a16:creationId xmlns:a16="http://schemas.microsoft.com/office/drawing/2014/main" id="{C1A890E8-91DF-413A-1873-F275B46FD0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B37097-10DF-5E03-AD3E-B798B827FB8B}"/>
              </a:ext>
            </a:extLst>
          </p:cNvPr>
          <p:cNvSpPr>
            <a:spLocks noGrp="1"/>
          </p:cNvSpPr>
          <p:nvPr>
            <p:ph type="sldNum" sz="quarter" idx="12"/>
          </p:nvPr>
        </p:nvSpPr>
        <p:spPr/>
        <p:txBody>
          <a:bodyPr/>
          <a:lstStyle/>
          <a:p>
            <a:fld id="{286E0C2F-4780-48A0-B75F-48779EFC8E36}" type="slidenum">
              <a:rPr lang="en-IN" smtClean="0"/>
              <a:t>‹#›</a:t>
            </a:fld>
            <a:endParaRPr lang="en-IN"/>
          </a:p>
        </p:txBody>
      </p:sp>
    </p:spTree>
    <p:extLst>
      <p:ext uri="{BB962C8B-B14F-4D97-AF65-F5344CB8AC3E}">
        <p14:creationId xmlns:p14="http://schemas.microsoft.com/office/powerpoint/2010/main" val="1964720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8FD6-BCD6-50E3-0A0B-27179724EDE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8715FC-D600-14D3-5DDC-00423997B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74977AE-DE86-2732-829C-69B67324C93E}"/>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5" name="Footer Placeholder 4">
            <a:extLst>
              <a:ext uri="{FF2B5EF4-FFF2-40B4-BE49-F238E27FC236}">
                <a16:creationId xmlns:a16="http://schemas.microsoft.com/office/drawing/2014/main" id="{C0013E8A-91A9-9A7D-186B-AD49208762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1FED8-C4C2-8034-3FB9-CE6B054460B0}"/>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40116977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9710-3765-D9FB-BF3B-0AC5C93BCB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3AEEBF-1BBE-3437-B26A-A1C6D70E6D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93C8A5-EBFE-C563-9916-CB396228DF3F}"/>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5" name="Footer Placeholder 4">
            <a:extLst>
              <a:ext uri="{FF2B5EF4-FFF2-40B4-BE49-F238E27FC236}">
                <a16:creationId xmlns:a16="http://schemas.microsoft.com/office/drawing/2014/main" id="{69EBC35D-475F-CFB2-50D3-4EF26912F2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FA3E53-1DFA-7B31-C713-4C0D7665F6AD}"/>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0332997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F31A-53EF-48A6-F1B7-FCAA38A4E794}"/>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F19282-EBAA-2E6C-B5D0-2BD02E282D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06B2D-4A8F-5B64-54A6-5EEA1E3DFCFF}"/>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5" name="Footer Placeholder 4">
            <a:extLst>
              <a:ext uri="{FF2B5EF4-FFF2-40B4-BE49-F238E27FC236}">
                <a16:creationId xmlns:a16="http://schemas.microsoft.com/office/drawing/2014/main" id="{C30E9BE5-38E4-41A8-BEE2-74BD78D472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D7004C-7F2F-5B27-5D32-445CD1C858A1}"/>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756808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45D6-5E5D-2827-FD1E-60B56940238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88AC93-C419-2CD1-9FC6-AE42E2B69A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345EBA-BD5C-A6FF-80EB-9D0D167861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C9E9C6-BB6B-9F89-6728-83533563F9CD}"/>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6" name="Footer Placeholder 5">
            <a:extLst>
              <a:ext uri="{FF2B5EF4-FFF2-40B4-BE49-F238E27FC236}">
                <a16:creationId xmlns:a16="http://schemas.microsoft.com/office/drawing/2014/main" id="{62AD7458-A7D6-9FDD-36AB-1C355C6C3C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105FA4-CC24-7C7C-A532-B373363D066F}"/>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8748961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6F29B-C364-3C85-9F33-458B4F4B2DA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79D6EF-30CF-C565-01E4-4E4995566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D05A6-7A71-B3B0-F013-E7DD32567D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3F03AE-E67D-BA4A-EDE9-7ED6446469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412A95-0108-4305-9DD8-084EB84EC4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154DE32-970C-2086-BD83-DD9B1A0D36C5}"/>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8" name="Footer Placeholder 7">
            <a:extLst>
              <a:ext uri="{FF2B5EF4-FFF2-40B4-BE49-F238E27FC236}">
                <a16:creationId xmlns:a16="http://schemas.microsoft.com/office/drawing/2014/main" id="{7D3B36E7-364D-C3CC-C4F2-7689287A8F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0D10CA-0A20-361F-D7AA-189EB9B5248B}"/>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4894186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856B8-5AB4-8CA9-2A68-C8448AFE6A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98FFDD-0D19-087E-C4C4-3DDC78364B55}"/>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4" name="Footer Placeholder 3">
            <a:extLst>
              <a:ext uri="{FF2B5EF4-FFF2-40B4-BE49-F238E27FC236}">
                <a16:creationId xmlns:a16="http://schemas.microsoft.com/office/drawing/2014/main" id="{B1F7418C-237A-D9C4-5BB9-65F45E43B0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1E1A3C-CA6A-DBF9-3EC0-EAE3556E40BC}"/>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6542905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A8A2BD-86AB-022B-0471-10E419A4AC32}"/>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3" name="Footer Placeholder 2">
            <a:extLst>
              <a:ext uri="{FF2B5EF4-FFF2-40B4-BE49-F238E27FC236}">
                <a16:creationId xmlns:a16="http://schemas.microsoft.com/office/drawing/2014/main" id="{BE1AE599-C3F5-0A87-1BDF-0A00F4F96D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68FB37-60C0-EFA6-A8F7-0FE9F3C70513}"/>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2084794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25D5A-EDD9-B428-5145-1CFA01D665A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A82E5E3-23C5-C25E-7E1D-CE259CC58C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0BE691-C863-C931-7917-C7369D60A6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D84DAA-FACE-0D9B-6D5D-8493AAAD6A76}"/>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6" name="Footer Placeholder 5">
            <a:extLst>
              <a:ext uri="{FF2B5EF4-FFF2-40B4-BE49-F238E27FC236}">
                <a16:creationId xmlns:a16="http://schemas.microsoft.com/office/drawing/2014/main" id="{A4A0A0E5-937D-F99C-BEE5-92B1D193EC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A2A5B6-8257-EB0A-DB50-6DA887DBAF0C}"/>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0175674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9BC89-9E28-F64D-235D-01C064FAB95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391578-F9AF-3032-C137-CA4AEA5E27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FDC878-E222-0A6A-CC8C-BD85FB1E3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C0F4CC-59C2-58F9-6DDF-C7CC3C54AC55}"/>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6" name="Footer Placeholder 5">
            <a:extLst>
              <a:ext uri="{FF2B5EF4-FFF2-40B4-BE49-F238E27FC236}">
                <a16:creationId xmlns:a16="http://schemas.microsoft.com/office/drawing/2014/main" id="{FA56E46E-A612-8C9F-02A3-D9FD58B253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FA379D-7644-7796-AB55-8757BB81AE7D}"/>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6860518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90A78-5875-0061-40F7-D4E41FF03C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3D6357-7A68-125E-F1BB-A844788495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C09C4D-FB71-8B9C-090B-C5783F9DEAB5}"/>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5" name="Footer Placeholder 4">
            <a:extLst>
              <a:ext uri="{FF2B5EF4-FFF2-40B4-BE49-F238E27FC236}">
                <a16:creationId xmlns:a16="http://schemas.microsoft.com/office/drawing/2014/main" id="{EF226D23-9858-0ECB-6B80-E383570168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46D52-1972-9CF4-90D4-7EAAE15673D6}"/>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38865826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C00B9-AC54-17A0-9131-1DBCAC91AD8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8226FF-F990-51BE-8511-27FEDD3947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C5C954-72E3-C9B3-4BB6-39EB7625982E}"/>
              </a:ext>
            </a:extLst>
          </p:cNvPr>
          <p:cNvSpPr>
            <a:spLocks noGrp="1"/>
          </p:cNvSpPr>
          <p:nvPr>
            <p:ph type="dt" sz="half" idx="10"/>
          </p:nvPr>
        </p:nvSpPr>
        <p:spPr/>
        <p:txBody>
          <a:bodyPr/>
          <a:lstStyle/>
          <a:p>
            <a:fld id="{4FCF3042-9457-4066-8C5E-A728C46299CF}" type="datetimeFigureOut">
              <a:rPr lang="en-IN" smtClean="0"/>
              <a:t>24-09-2026</a:t>
            </a:fld>
            <a:endParaRPr lang="en-IN"/>
          </a:p>
        </p:txBody>
      </p:sp>
      <p:sp>
        <p:nvSpPr>
          <p:cNvPr id="5" name="Footer Placeholder 4">
            <a:extLst>
              <a:ext uri="{FF2B5EF4-FFF2-40B4-BE49-F238E27FC236}">
                <a16:creationId xmlns:a16="http://schemas.microsoft.com/office/drawing/2014/main" id="{73143D11-1971-0E5A-C0D6-692CB55440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39AD57-F2AF-2E46-C454-C8E1AF40B439}"/>
              </a:ext>
            </a:extLst>
          </p:cNvPr>
          <p:cNvSpPr>
            <a:spLocks noGrp="1"/>
          </p:cNvSpPr>
          <p:nvPr>
            <p:ph type="sldNum" sz="quarter" idx="12"/>
          </p:nvPr>
        </p:nvSpPr>
        <p:spPr/>
        <p:txBody>
          <a:bodyPr/>
          <a:lstStyle/>
          <a:p>
            <a:fld id="{5DADF97F-319F-4908-B1AB-753E26D9D849}" type="slidenum">
              <a:rPr lang="en-IN" smtClean="0"/>
              <a:t>‹#›</a:t>
            </a:fld>
            <a:endParaRPr lang="en-IN"/>
          </a:p>
        </p:txBody>
      </p:sp>
    </p:spTree>
    <p:extLst>
      <p:ext uri="{BB962C8B-B14F-4D97-AF65-F5344CB8AC3E}">
        <p14:creationId xmlns:p14="http://schemas.microsoft.com/office/powerpoint/2010/main" val="24142086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591431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2322073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5449C2-1BC0-4712-B87F-A46355E9487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9181183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5449C2-1BC0-4712-B87F-A46355E9487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6107276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5449C2-1BC0-4712-B87F-A46355E94878}" type="datetimeFigureOut">
              <a:rPr lang="en-IN" smtClean="0"/>
              <a:t>24-09-2026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338509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5449C2-1BC0-4712-B87F-A46355E94878}" type="datetimeFigureOut">
              <a:rPr lang="en-IN" smtClean="0"/>
              <a:t>24-09-2026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423564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449C2-1BC0-4712-B87F-A46355E94878}" type="datetimeFigureOut">
              <a:rPr lang="en-IN" smtClean="0"/>
              <a:t>24-09-2026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41907332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69110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5449C2-1BC0-4712-B87F-A46355E9487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105179786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944113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5449C2-1BC0-4712-B87F-A46355E9487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1CBE41-AFB0-44DA-B0B7-EE662A62BD20}" type="slidenum">
              <a:rPr lang="en-IN" smtClean="0"/>
              <a:t>‹#›</a:t>
            </a:fld>
            <a:endParaRPr lang="en-IN"/>
          </a:p>
        </p:txBody>
      </p:sp>
    </p:spTree>
    <p:extLst>
      <p:ext uri="{BB962C8B-B14F-4D97-AF65-F5344CB8AC3E}">
        <p14:creationId xmlns:p14="http://schemas.microsoft.com/office/powerpoint/2010/main" val="34299156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896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6B5D22-ED43-B9AC-E8A9-880737788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583EB0-98B5-F93C-94DB-C00E242CDD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470165-6173-C423-6D40-4FD72CB09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24-09-2026</a:t>
            </a:fld>
            <a:endParaRPr lang="en-IN"/>
          </a:p>
        </p:txBody>
      </p:sp>
      <p:sp>
        <p:nvSpPr>
          <p:cNvPr id="5" name="Footer Placeholder 4">
            <a:extLst>
              <a:ext uri="{FF2B5EF4-FFF2-40B4-BE49-F238E27FC236}">
                <a16:creationId xmlns:a16="http://schemas.microsoft.com/office/drawing/2014/main" id="{0EE5ADCD-ADE6-6D82-B2EF-82963F61BD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37BA67-9B2E-019B-174B-578A8E1738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spTree>
    <p:extLst>
      <p:ext uri="{BB962C8B-B14F-4D97-AF65-F5344CB8AC3E}">
        <p14:creationId xmlns:p14="http://schemas.microsoft.com/office/powerpoint/2010/main" val="3203345564"/>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0CBE7B-BF07-7F1A-B734-4812FD19E9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BE36C3-7221-4821-FFDF-2C3212B063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BFE97E-49C2-026F-AF69-49D62509C2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E1380B-202A-4ADB-8029-48BBD470229E}" type="datetimeFigureOut">
              <a:rPr lang="en-IN" smtClean="0"/>
              <a:t>24-09-2026</a:t>
            </a:fld>
            <a:endParaRPr lang="en-IN"/>
          </a:p>
        </p:txBody>
      </p:sp>
      <p:sp>
        <p:nvSpPr>
          <p:cNvPr id="5" name="Footer Placeholder 4">
            <a:extLst>
              <a:ext uri="{FF2B5EF4-FFF2-40B4-BE49-F238E27FC236}">
                <a16:creationId xmlns:a16="http://schemas.microsoft.com/office/drawing/2014/main" id="{0B3594C0-D29D-84E3-A127-37FC25DB7D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DAB4BA9-2607-136F-0D6C-48184857D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6E0C2F-4780-48A0-B75F-48779EFC8E36}" type="slidenum">
              <a:rPr lang="en-IN" smtClean="0"/>
              <a:t>‹#›</a:t>
            </a:fld>
            <a:endParaRPr lang="en-IN"/>
          </a:p>
        </p:txBody>
      </p:sp>
    </p:spTree>
    <p:extLst>
      <p:ext uri="{BB962C8B-B14F-4D97-AF65-F5344CB8AC3E}">
        <p14:creationId xmlns:p14="http://schemas.microsoft.com/office/powerpoint/2010/main" val="1006655309"/>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CAE7C7-C77B-E7F0-C90A-816659C356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A25FFFF-FC5F-0CA4-EC43-1522DC94DE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CF3042-9457-4066-8C5E-A728C46299CF}" type="datetimeFigureOut">
              <a:rPr lang="en-IN" smtClean="0"/>
              <a:t>24-09-2026</a:t>
            </a:fld>
            <a:endParaRPr lang="en-IN"/>
          </a:p>
        </p:txBody>
      </p:sp>
      <p:sp>
        <p:nvSpPr>
          <p:cNvPr id="5" name="Footer Placeholder 4">
            <a:extLst>
              <a:ext uri="{FF2B5EF4-FFF2-40B4-BE49-F238E27FC236}">
                <a16:creationId xmlns:a16="http://schemas.microsoft.com/office/drawing/2014/main" id="{1DD31B25-21B2-599E-8779-990350E80D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137C28A-80E3-A329-704C-FFC7E4B7F9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DF97F-319F-4908-B1AB-753E26D9D849}" type="slidenum">
              <a:rPr lang="en-IN" smtClean="0"/>
              <a:t>‹#›</a:t>
            </a:fld>
            <a:endParaRPr lang="en-IN"/>
          </a:p>
        </p:txBody>
      </p:sp>
      <p:pic>
        <p:nvPicPr>
          <p:cNvPr id="7" name="Picture 6">
            <a:extLst>
              <a:ext uri="{FF2B5EF4-FFF2-40B4-BE49-F238E27FC236}">
                <a16:creationId xmlns:a16="http://schemas.microsoft.com/office/drawing/2014/main" id="{976ECDB2-D6B7-EFA7-C691-CE763FD3D534}"/>
              </a:ext>
            </a:extLst>
          </p:cNvPr>
          <p:cNvPicPr/>
          <p:nvPr userDrawn="1"/>
        </p:nvPicPr>
        <p:blipFill>
          <a:blip r:embed="rId13"/>
          <a:stretch>
            <a:fillRect/>
          </a:stretch>
        </p:blipFill>
        <p:spPr>
          <a:xfrm>
            <a:off x="0" y="0"/>
            <a:ext cx="1912373" cy="1035233"/>
          </a:xfrm>
          <a:prstGeom prst="rect">
            <a:avLst/>
          </a:prstGeom>
          <a:noFill/>
          <a:ln w="9525">
            <a:noFill/>
          </a:ln>
        </p:spPr>
      </p:pic>
    </p:spTree>
    <p:extLst>
      <p:ext uri="{BB962C8B-B14F-4D97-AF65-F5344CB8AC3E}">
        <p14:creationId xmlns:p14="http://schemas.microsoft.com/office/powerpoint/2010/main" val="322023760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BD89FD-1150-4979-9614-9DD9EB69C9AA}" type="datetimeFigureOut">
              <a:rPr lang="en-IN" smtClean="0"/>
              <a:t>24-09-2026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71D4DB-F3A0-4149-BE4E-F155135AE119}" type="slidenum">
              <a:rPr lang="en-IN" smtClean="0"/>
              <a:t>‹#›</a:t>
            </a:fld>
            <a:endParaRPr lang="en-IN"/>
          </a:p>
        </p:txBody>
      </p:sp>
      <p:pic>
        <p:nvPicPr>
          <p:cNvPr id="7" name="Picture 6">
            <a:extLst>
              <a:ext uri="{FF2B5EF4-FFF2-40B4-BE49-F238E27FC236}">
                <a16:creationId xmlns:a16="http://schemas.microsoft.com/office/drawing/2014/main" id="{B7A06C70-E092-D371-A213-D2FAC30D48C2}"/>
              </a:ext>
            </a:extLst>
          </p:cNvPr>
          <p:cNvPicPr/>
          <p:nvPr userDrawn="1"/>
        </p:nvPicPr>
        <p:blipFill>
          <a:blip r:embed="rId14"/>
          <a:stretch>
            <a:fillRect/>
          </a:stretch>
        </p:blipFill>
        <p:spPr>
          <a:xfrm>
            <a:off x="0" y="39577"/>
            <a:ext cx="1912373" cy="1035233"/>
          </a:xfrm>
          <a:prstGeom prst="rect">
            <a:avLst/>
          </a:prstGeom>
          <a:noFill/>
          <a:ln w="9525">
            <a:noFill/>
          </a:ln>
        </p:spPr>
      </p:pic>
    </p:spTree>
    <p:extLst>
      <p:ext uri="{BB962C8B-B14F-4D97-AF65-F5344CB8AC3E}">
        <p14:creationId xmlns:p14="http://schemas.microsoft.com/office/powerpoint/2010/main" val="3217939247"/>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0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91B5C2-4C0B-E2C4-1889-F1184977CF64}"/>
              </a:ext>
            </a:extLst>
          </p:cNvPr>
          <p:cNvPicPr/>
          <p:nvPr/>
        </p:nvPicPr>
        <p:blipFill>
          <a:blip r:embed="rId3"/>
          <a:stretch>
            <a:fillRect/>
          </a:stretch>
        </p:blipFill>
        <p:spPr>
          <a:xfrm>
            <a:off x="0" y="0"/>
            <a:ext cx="1912373" cy="1035233"/>
          </a:xfrm>
          <a:prstGeom prst="rect">
            <a:avLst/>
          </a:prstGeom>
          <a:noFill/>
          <a:ln w="9525">
            <a:noFill/>
          </a:ln>
        </p:spPr>
      </p:pic>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53694"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2" name="Title 1">
            <a:extLst>
              <a:ext uri="{FF2B5EF4-FFF2-40B4-BE49-F238E27FC236}">
                <a16:creationId xmlns:a16="http://schemas.microsoft.com/office/drawing/2014/main" id="{8528DE82-C5E5-81ED-279C-247B47B57F12}"/>
              </a:ext>
            </a:extLst>
          </p:cNvPr>
          <p:cNvSpPr>
            <a:spLocks noGrp="1"/>
          </p:cNvSpPr>
          <p:nvPr>
            <p:ph type="ctrTitle"/>
          </p:nvPr>
        </p:nvSpPr>
        <p:spPr>
          <a:xfrm>
            <a:off x="-171003" y="625197"/>
            <a:ext cx="6863788" cy="2130872"/>
          </a:xfrm>
        </p:spPr>
        <p:txBody>
          <a:bodyPr>
            <a:normAutofit/>
          </a:bodyPr>
          <a:lstStyle/>
          <a:p>
            <a:pPr marR="0" lvl="0" indent="0">
              <a:spcBef>
                <a:spcPts val="0"/>
              </a:spcBef>
              <a:spcAft>
                <a:spcPts val="0"/>
              </a:spcAft>
            </a:pPr>
            <a:r>
              <a:rPr lang="en-US" sz="3200" b="1" cap="all" dirty="0">
                <a:solidFill>
                  <a:srgbClr val="C00000"/>
                </a:solidFill>
                <a:latin typeface="+mn-lt"/>
                <a:cs typeface="Poppins" panose="00000500000000000000" pitchFamily="2" charset="0"/>
                <a:sym typeface="BioRhyme ExtraBold"/>
              </a:rPr>
              <a:t>COURSE NAME: </a:t>
            </a:r>
            <a:br>
              <a:rPr lang="en-US" sz="3200" b="1" cap="all" dirty="0">
                <a:solidFill>
                  <a:srgbClr val="C00000"/>
                </a:solidFill>
                <a:latin typeface="+mn-lt"/>
                <a:cs typeface="Poppins" panose="00000500000000000000" pitchFamily="2" charset="0"/>
                <a:sym typeface="BioRhyme ExtraBold"/>
              </a:rPr>
            </a:br>
            <a:r>
              <a:rPr lang="en-US" sz="3200" b="1" cap="all" dirty="0">
                <a:solidFill>
                  <a:srgbClr val="C00000"/>
                </a:solidFill>
                <a:latin typeface="+mn-lt"/>
                <a:cs typeface="Poppins" panose="00000500000000000000" pitchFamily="2" charset="0"/>
                <a:sym typeface="BioRhyme ExtraBold"/>
              </a:rPr>
              <a:t>Applied Machine Learning In Text Analysis</a:t>
            </a:r>
            <a:br>
              <a:rPr lang="en-US" sz="3200" b="1" cap="all" dirty="0">
                <a:solidFill>
                  <a:srgbClr val="C00000"/>
                </a:solidFill>
                <a:cs typeface="Poppins" panose="00000500000000000000" pitchFamily="2" charset="0"/>
                <a:sym typeface="BioRhyme ExtraBold"/>
              </a:rPr>
            </a:br>
            <a:r>
              <a:rPr lang="en-US" sz="3200" b="1" cap="all" dirty="0">
                <a:solidFill>
                  <a:srgbClr val="00B0F0"/>
                </a:solidFill>
                <a:latin typeface="+mn-lt"/>
                <a:cs typeface="Poppins" panose="00000500000000000000" pitchFamily="2" charset="0"/>
                <a:sym typeface="BioRhyme ExtraBold"/>
              </a:rPr>
              <a:t>COURSE CODE: 24ALT3101</a:t>
            </a:r>
            <a:endParaRPr lang="en-IN" sz="3200" dirty="0">
              <a:latin typeface="+mn-lt"/>
            </a:endParaRPr>
          </a:p>
        </p:txBody>
      </p:sp>
      <p:sp>
        <p:nvSpPr>
          <p:cNvPr id="3" name="Subtitle 2">
            <a:extLst>
              <a:ext uri="{FF2B5EF4-FFF2-40B4-BE49-F238E27FC236}">
                <a16:creationId xmlns:a16="http://schemas.microsoft.com/office/drawing/2014/main" id="{5F77B31E-09B8-20A6-291A-404A4807B446}"/>
              </a:ext>
            </a:extLst>
          </p:cNvPr>
          <p:cNvSpPr>
            <a:spLocks noGrp="1"/>
          </p:cNvSpPr>
          <p:nvPr>
            <p:ph type="subTitle" idx="1"/>
          </p:nvPr>
        </p:nvSpPr>
        <p:spPr>
          <a:xfrm>
            <a:off x="164664" y="2868626"/>
            <a:ext cx="6192455" cy="3989374"/>
          </a:xfrm>
        </p:spPr>
        <p:txBody>
          <a:bodyPr>
            <a:normAutofit/>
          </a:bodyPr>
          <a:lstStyle/>
          <a:p>
            <a:pPr algn="l"/>
            <a:r>
              <a:rPr lang="en-US" sz="2800" b="1" dirty="0">
                <a:solidFill>
                  <a:srgbClr val="00B0F0"/>
                </a:solidFill>
                <a:cs typeface="Poppins" pitchFamily="2" charset="77"/>
              </a:rPr>
              <a:t>Project Title: </a:t>
            </a:r>
            <a:r>
              <a:rPr lang="en-IN" sz="2800" dirty="0"/>
              <a:t>Deep Learning Framework for Automated Pneumonia Detection Using Chest X-ray Images.</a:t>
            </a:r>
          </a:p>
          <a:p>
            <a:pPr algn="l"/>
            <a:endParaRPr lang="en-IN" sz="2800" dirty="0"/>
          </a:p>
          <a:p>
            <a:pPr algn="l"/>
            <a:r>
              <a:rPr lang="en-IN" dirty="0"/>
              <a:t>An Explainable AI-Based Approach for Accurate and Interpretable Pneumonia Diagnosis</a:t>
            </a:r>
          </a:p>
          <a:p>
            <a:pPr algn="l"/>
            <a:endParaRPr lang="en-IN" dirty="0"/>
          </a:p>
          <a:p>
            <a:pPr lvl="0">
              <a:spcBef>
                <a:spcPts val="0"/>
              </a:spcBef>
            </a:pPr>
            <a:r>
              <a:rPr lang="en-US" b="1" dirty="0">
                <a:solidFill>
                  <a:srgbClr val="FF0000"/>
                </a:solidFill>
              </a:rPr>
              <a:t>Team Members:</a:t>
            </a:r>
            <a:br>
              <a:rPr lang="en-US" b="1" dirty="0">
                <a:solidFill>
                  <a:srgbClr val="FF0000"/>
                </a:solidFill>
              </a:rPr>
            </a:br>
            <a:r>
              <a:rPr lang="en-US" dirty="0"/>
              <a:t>1. Allam </a:t>
            </a:r>
            <a:r>
              <a:rPr lang="en-US" dirty="0" err="1"/>
              <a:t>Greshmica</a:t>
            </a:r>
            <a:r>
              <a:rPr lang="en-US" dirty="0"/>
              <a:t> - 2420030017</a:t>
            </a:r>
            <a:br>
              <a:rPr lang="en-US" dirty="0"/>
            </a:br>
            <a:r>
              <a:rPr lang="en-US" dirty="0"/>
              <a:t>2. </a:t>
            </a:r>
            <a:r>
              <a:rPr lang="en-US" dirty="0" err="1"/>
              <a:t>Mikkineni</a:t>
            </a:r>
            <a:r>
              <a:rPr lang="en-US" dirty="0"/>
              <a:t> Thanvitha - 2420030040</a:t>
            </a:r>
            <a:endParaRPr lang="en-US" b="1" cap="all" dirty="0">
              <a:ln/>
              <a:solidFill>
                <a:srgbClr val="C00000"/>
              </a:solidFill>
              <a:ea typeface="BioRhyme ExtraBold"/>
              <a:cs typeface="Poppins" panose="00000500000000000000" pitchFamily="2" charset="0"/>
            </a:endParaRPr>
          </a:p>
          <a:p>
            <a:endParaRPr lang="en-IN" dirty="0"/>
          </a:p>
        </p:txBody>
      </p:sp>
      <p:pic>
        <p:nvPicPr>
          <p:cNvPr id="9" name="Picture 8" descr="Viral pneumonia, lung X-ray - Stock Image - C037/2788 - Science Photo  Library">
            <a:extLst>
              <a:ext uri="{FF2B5EF4-FFF2-40B4-BE49-F238E27FC236}">
                <a16:creationId xmlns:a16="http://schemas.microsoft.com/office/drawing/2014/main" id="{8F9451F2-C767-299C-1BC0-03E1D6585377}"/>
              </a:ext>
            </a:extLst>
          </p:cNvPr>
          <p:cNvPicPr>
            <a:picLocks noChangeAspect="1"/>
          </p:cNvPicPr>
          <p:nvPr/>
        </p:nvPicPr>
        <p:blipFill>
          <a:blip r:embed="rId4"/>
          <a:stretch>
            <a:fillRect/>
          </a:stretch>
        </p:blipFill>
        <p:spPr>
          <a:xfrm>
            <a:off x="6458673" y="277791"/>
            <a:ext cx="5428527" cy="6285055"/>
          </a:xfrm>
          <a:prstGeom prst="rect">
            <a:avLst/>
          </a:prstGeom>
        </p:spPr>
      </p:pic>
    </p:spTree>
    <p:extLst>
      <p:ext uri="{BB962C8B-B14F-4D97-AF65-F5344CB8AC3E}">
        <p14:creationId xmlns:p14="http://schemas.microsoft.com/office/powerpoint/2010/main" val="3584482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Rounded Rectangle 17">
            <a:extLst>
              <a:ext uri="{FF2B5EF4-FFF2-40B4-BE49-F238E27FC236}">
                <a16:creationId xmlns:a16="http://schemas.microsoft.com/office/drawing/2014/main" id="{042E44EE-FDDE-6E91-88DD-E9CB42F51300}"/>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Problem Statement</a:t>
            </a:r>
          </a:p>
        </p:txBody>
      </p:sp>
      <p:pic>
        <p:nvPicPr>
          <p:cNvPr id="5" name="Picture 4">
            <a:extLst>
              <a:ext uri="{FF2B5EF4-FFF2-40B4-BE49-F238E27FC236}">
                <a16:creationId xmlns:a16="http://schemas.microsoft.com/office/drawing/2014/main" id="{6E91B5C2-4C0B-E2C4-1889-F1184977CF64}"/>
              </a:ext>
            </a:extLst>
          </p:cNvPr>
          <p:cNvPicPr/>
          <p:nvPr/>
        </p:nvPicPr>
        <p:blipFill>
          <a:blip r:embed="rId2"/>
          <a:stretch>
            <a:fillRect/>
          </a:stretch>
        </p:blipFill>
        <p:spPr>
          <a:xfrm>
            <a:off x="0" y="-7328"/>
            <a:ext cx="1912373" cy="1035233"/>
          </a:xfrm>
          <a:prstGeom prst="rect">
            <a:avLst/>
          </a:prstGeom>
          <a:noFill/>
          <a:ln w="9525">
            <a:noFill/>
          </a:ln>
        </p:spPr>
      </p:pic>
      <p:sp>
        <p:nvSpPr>
          <p:cNvPr id="11" name="TextBox 10">
            <a:extLst>
              <a:ext uri="{FF2B5EF4-FFF2-40B4-BE49-F238E27FC236}">
                <a16:creationId xmlns:a16="http://schemas.microsoft.com/office/drawing/2014/main" id="{8409BCE6-5464-40BA-CCD8-3513BD9E2256}"/>
              </a:ext>
            </a:extLst>
          </p:cNvPr>
          <p:cNvSpPr txBox="1"/>
          <p:nvPr/>
        </p:nvSpPr>
        <p:spPr>
          <a:xfrm>
            <a:off x="401548" y="1300601"/>
            <a:ext cx="11388903" cy="5262979"/>
          </a:xfrm>
          <a:prstGeom prst="rect">
            <a:avLst/>
          </a:prstGeom>
          <a:noFill/>
        </p:spPr>
        <p:txBody>
          <a:bodyPr wrap="square">
            <a:spAutoFit/>
          </a:bodyPr>
          <a:lstStyle/>
          <a:p>
            <a:r>
              <a:rPr lang="en-US" sz="2400" dirty="0"/>
              <a:t>Pneumonia is a serious infection of the lungs that can cause breathing problems and other health complications if it is not detected early. Chest X-rays are commonly used to detect pneumonia, but doctors need to examine these X-rays manually, which can take time. The diagnosis can also be affected by human error and differences in doctors’ experience. In hospitals with fewer experienced radiologists, this can be an even bigger challenge.</a:t>
            </a:r>
          </a:p>
          <a:p>
            <a:endParaRPr lang="en-US" sz="2400" dirty="0"/>
          </a:p>
          <a:p>
            <a:r>
              <a:rPr lang="en-US" sz="2400" dirty="0"/>
              <a:t>AI can help detect pneumonia from chest X-rays quickly, but some AI models only give a result such as “Pneumonia” or “Normal” without explaining why. Therefore, we need a system that can not only detect pneumonia accurately and quickly, but also show the areas of the X-ray that influenced its decision. This makes the AI prediction easier to understand and more trustworthy for doctors.</a:t>
            </a:r>
          </a:p>
          <a:p>
            <a:endParaRPr lang="en-US" sz="2400" dirty="0"/>
          </a:p>
          <a:p>
            <a:r>
              <a:rPr lang="en-IN" sz="2400" dirty="0"/>
              <a:t>Existing systems may provide a classification result without clearly showing which image regions influenced the prediction.</a:t>
            </a:r>
            <a:endParaRPr lang="en-US" sz="2400" dirty="0"/>
          </a:p>
        </p:txBody>
      </p:sp>
    </p:spTree>
    <p:extLst>
      <p:ext uri="{BB962C8B-B14F-4D97-AF65-F5344CB8AC3E}">
        <p14:creationId xmlns:p14="http://schemas.microsoft.com/office/powerpoint/2010/main" val="724031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9" name="Picture 8">
            <a:extLst>
              <a:ext uri="{FF2B5EF4-FFF2-40B4-BE49-F238E27FC236}">
                <a16:creationId xmlns:a16="http://schemas.microsoft.com/office/drawing/2014/main" id="{C85D3F57-9DD8-0643-78E4-5591C60CE0CC}"/>
              </a:ext>
            </a:extLst>
          </p:cNvPr>
          <p:cNvPicPr/>
          <p:nvPr/>
        </p:nvPicPr>
        <p:blipFill>
          <a:blip r:embed="rId3"/>
          <a:stretch>
            <a:fillRect/>
          </a:stretch>
        </p:blipFill>
        <p:spPr>
          <a:xfrm>
            <a:off x="0" y="0"/>
            <a:ext cx="1912373" cy="1035233"/>
          </a:xfrm>
          <a:prstGeom prst="rect">
            <a:avLst/>
          </a:prstGeom>
          <a:noFill/>
          <a:ln w="9525">
            <a:noFill/>
          </a:ln>
        </p:spPr>
      </p:pic>
      <p:sp>
        <p:nvSpPr>
          <p:cNvPr id="4" name="Rounded Rectangle 17">
            <a:extLst>
              <a:ext uri="{FF2B5EF4-FFF2-40B4-BE49-F238E27FC236}">
                <a16:creationId xmlns:a16="http://schemas.microsoft.com/office/drawing/2014/main" id="{773E3FD2-C926-E7CE-5EE1-0583BBB29208}"/>
              </a:ext>
            </a:extLst>
          </p:cNvPr>
          <p:cNvSpPr/>
          <p:nvPr/>
        </p:nvSpPr>
        <p:spPr>
          <a:xfrm>
            <a:off x="3026134" y="76835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Objectives</a:t>
            </a:r>
          </a:p>
        </p:txBody>
      </p:sp>
      <p:sp>
        <p:nvSpPr>
          <p:cNvPr id="12" name="TextBox 11">
            <a:extLst>
              <a:ext uri="{FF2B5EF4-FFF2-40B4-BE49-F238E27FC236}">
                <a16:creationId xmlns:a16="http://schemas.microsoft.com/office/drawing/2014/main" id="{30308CF7-D6DF-7984-33EB-6587E6FC1E6E}"/>
              </a:ext>
            </a:extLst>
          </p:cNvPr>
          <p:cNvSpPr txBox="1"/>
          <p:nvPr/>
        </p:nvSpPr>
        <p:spPr>
          <a:xfrm>
            <a:off x="651659" y="2726951"/>
            <a:ext cx="11388903" cy="3046988"/>
          </a:xfrm>
          <a:prstGeom prst="rect">
            <a:avLst/>
          </a:prstGeom>
          <a:noFill/>
        </p:spPr>
        <p:txBody>
          <a:bodyPr wrap="square">
            <a:spAutoFit/>
          </a:bodyPr>
          <a:lstStyle/>
          <a:p>
            <a:pPr marL="342900" lvl="0" indent="-342900">
              <a:buFont typeface="+mj-lt"/>
              <a:buAutoNum type="arabicPeriod"/>
            </a:pPr>
            <a:r>
              <a:rPr lang="en-IN" sz="2400" dirty="0"/>
              <a:t>Develop an automated pneumonia classification system using chest X-ray images. </a:t>
            </a:r>
          </a:p>
          <a:p>
            <a:pPr marL="342900" lvl="0" indent="-342900">
              <a:buFont typeface="+mj-lt"/>
              <a:buAutoNum type="arabicPeriod"/>
            </a:pPr>
            <a:r>
              <a:rPr lang="en-IN" sz="2400" dirty="0"/>
              <a:t>Implement image preprocessing and augmentation. </a:t>
            </a:r>
          </a:p>
          <a:p>
            <a:pPr marL="342900" lvl="0" indent="-342900">
              <a:buFont typeface="+mj-lt"/>
              <a:buAutoNum type="arabicPeriod"/>
            </a:pPr>
            <a:r>
              <a:rPr lang="en-IN" sz="2400" dirty="0"/>
              <a:t>Implement DenseNet-121 transfer learning for binary classification. </a:t>
            </a:r>
          </a:p>
          <a:p>
            <a:pPr marL="342900" lvl="0" indent="-342900">
              <a:buFont typeface="+mj-lt"/>
              <a:buAutoNum type="arabicPeriod"/>
            </a:pPr>
            <a:r>
              <a:rPr lang="en-IN" sz="2400" dirty="0"/>
              <a:t>Evaluate the model using Accuracy, Precision, Recall, F1-score and ROC-AUC. </a:t>
            </a:r>
          </a:p>
          <a:p>
            <a:pPr marL="342900" lvl="0" indent="-342900">
              <a:buFont typeface="+mj-lt"/>
              <a:buAutoNum type="arabicPeriod"/>
            </a:pPr>
            <a:r>
              <a:rPr lang="en-IN" sz="2400" dirty="0"/>
              <a:t>Apply Grad-CAM to provide visual explanations of model predictions. </a:t>
            </a:r>
          </a:p>
          <a:p>
            <a:pPr marL="342900" lvl="0" indent="-342900">
              <a:buFont typeface="+mj-lt"/>
              <a:buAutoNum type="arabicPeriod"/>
            </a:pPr>
            <a:r>
              <a:rPr lang="en-IN" sz="2400" dirty="0"/>
              <a:t>Develop a local </a:t>
            </a:r>
            <a:r>
              <a:rPr lang="en-IN" sz="2400" dirty="0" err="1"/>
              <a:t>FastAPI</a:t>
            </a:r>
            <a:r>
              <a:rPr lang="en-IN" sz="2400" dirty="0"/>
              <a:t> prototype for X-ray upload and prediction. </a:t>
            </a:r>
          </a:p>
          <a:p>
            <a:pPr marL="342900" lvl="0" indent="-342900">
              <a:buFont typeface="+mj-lt"/>
              <a:buAutoNum type="arabicPeriod"/>
            </a:pPr>
            <a:r>
              <a:rPr lang="en-IN" sz="2400" dirty="0"/>
              <a:t>Extend the framework in future phases using multiple datasets, architectures and natural-language explanations.</a:t>
            </a:r>
          </a:p>
        </p:txBody>
      </p:sp>
    </p:spTree>
    <p:extLst>
      <p:ext uri="{BB962C8B-B14F-4D97-AF65-F5344CB8AC3E}">
        <p14:creationId xmlns:p14="http://schemas.microsoft.com/office/powerpoint/2010/main" val="1704114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91B5C2-4C0B-E2C4-1889-F1184977CF64}"/>
              </a:ext>
            </a:extLst>
          </p:cNvPr>
          <p:cNvPicPr/>
          <p:nvPr/>
        </p:nvPicPr>
        <p:blipFill>
          <a:blip r:embed="rId2"/>
          <a:stretch>
            <a:fillRect/>
          </a:stretch>
        </p:blipFill>
        <p:spPr>
          <a:xfrm>
            <a:off x="0" y="0"/>
            <a:ext cx="1912373" cy="1035233"/>
          </a:xfrm>
          <a:prstGeom prst="rect">
            <a:avLst/>
          </a:prstGeom>
          <a:noFill/>
          <a:ln w="9525">
            <a:noFill/>
          </a:ln>
        </p:spPr>
      </p:pic>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sp>
        <p:nvSpPr>
          <p:cNvPr id="5" name="Rounded Rectangle 17">
            <a:extLst>
              <a:ext uri="{FF2B5EF4-FFF2-40B4-BE49-F238E27FC236}">
                <a16:creationId xmlns:a16="http://schemas.microsoft.com/office/drawing/2014/main" id="{524C8388-FBE8-586D-8161-64455497AFD3}"/>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Literature Review</a:t>
            </a:r>
          </a:p>
        </p:txBody>
      </p:sp>
      <p:sp>
        <p:nvSpPr>
          <p:cNvPr id="9" name="TextBox 8">
            <a:extLst>
              <a:ext uri="{FF2B5EF4-FFF2-40B4-BE49-F238E27FC236}">
                <a16:creationId xmlns:a16="http://schemas.microsoft.com/office/drawing/2014/main" id="{9C9838F2-D200-DE07-B729-4480354C9FCD}"/>
              </a:ext>
            </a:extLst>
          </p:cNvPr>
          <p:cNvSpPr txBox="1"/>
          <p:nvPr/>
        </p:nvSpPr>
        <p:spPr>
          <a:xfrm>
            <a:off x="457199" y="1359595"/>
            <a:ext cx="11388903" cy="707886"/>
          </a:xfrm>
          <a:prstGeom prst="rect">
            <a:avLst/>
          </a:prstGeom>
          <a:noFill/>
        </p:spPr>
        <p:txBody>
          <a:bodyPr wrap="square">
            <a:spAutoFit/>
          </a:bodyPr>
          <a:lstStyle/>
          <a:p>
            <a:endParaRPr lang="en-US" sz="2000" dirty="0"/>
          </a:p>
          <a:p>
            <a:r>
              <a:rPr lang="en-US" sz="2000" dirty="0"/>
              <a:t>	</a:t>
            </a:r>
            <a:endParaRPr lang="en-IN" sz="2000" dirty="0"/>
          </a:p>
        </p:txBody>
      </p:sp>
      <p:graphicFrame>
        <p:nvGraphicFramePr>
          <p:cNvPr id="11" name="Table 10">
            <a:extLst>
              <a:ext uri="{FF2B5EF4-FFF2-40B4-BE49-F238E27FC236}">
                <a16:creationId xmlns:a16="http://schemas.microsoft.com/office/drawing/2014/main" id="{11192A95-8D9F-1D9B-B922-DFAB96EAB342}"/>
              </a:ext>
            </a:extLst>
          </p:cNvPr>
          <p:cNvGraphicFramePr>
            <a:graphicFrameLocks noGrp="1"/>
          </p:cNvGraphicFramePr>
          <p:nvPr>
            <p:extLst>
              <p:ext uri="{D42A27DB-BD31-4B8C-83A1-F6EECF244321}">
                <p14:modId xmlns:p14="http://schemas.microsoft.com/office/powerpoint/2010/main" val="2320360492"/>
              </p:ext>
            </p:extLst>
          </p:nvPr>
        </p:nvGraphicFramePr>
        <p:xfrm>
          <a:off x="345898" y="947360"/>
          <a:ext cx="11388903" cy="5766993"/>
        </p:xfrm>
        <a:graphic>
          <a:graphicData uri="http://schemas.openxmlformats.org/drawingml/2006/table">
            <a:tbl>
              <a:tblPr firstRow="1" bandRow="1">
                <a:tableStyleId>{5C22544A-7EE6-4342-B048-85BDC9FD1C3A}</a:tableStyleId>
              </a:tblPr>
              <a:tblGrid>
                <a:gridCol w="648735">
                  <a:extLst>
                    <a:ext uri="{9D8B030D-6E8A-4147-A177-3AD203B41FA5}">
                      <a16:colId xmlns:a16="http://schemas.microsoft.com/office/drawing/2014/main" val="81232920"/>
                    </a:ext>
                  </a:extLst>
                </a:gridCol>
                <a:gridCol w="2940932">
                  <a:extLst>
                    <a:ext uri="{9D8B030D-6E8A-4147-A177-3AD203B41FA5}">
                      <a16:colId xmlns:a16="http://schemas.microsoft.com/office/drawing/2014/main" val="126936909"/>
                    </a:ext>
                  </a:extLst>
                </a:gridCol>
                <a:gridCol w="2421944">
                  <a:extLst>
                    <a:ext uri="{9D8B030D-6E8A-4147-A177-3AD203B41FA5}">
                      <a16:colId xmlns:a16="http://schemas.microsoft.com/office/drawing/2014/main" val="1335324797"/>
                    </a:ext>
                  </a:extLst>
                </a:gridCol>
                <a:gridCol w="2530066">
                  <a:extLst>
                    <a:ext uri="{9D8B030D-6E8A-4147-A177-3AD203B41FA5}">
                      <a16:colId xmlns:a16="http://schemas.microsoft.com/office/drawing/2014/main" val="2106700366"/>
                    </a:ext>
                  </a:extLst>
                </a:gridCol>
                <a:gridCol w="2847226">
                  <a:extLst>
                    <a:ext uri="{9D8B030D-6E8A-4147-A177-3AD203B41FA5}">
                      <a16:colId xmlns:a16="http://schemas.microsoft.com/office/drawing/2014/main" val="1029312533"/>
                    </a:ext>
                  </a:extLst>
                </a:gridCol>
              </a:tblGrid>
              <a:tr h="540788">
                <a:tc>
                  <a:txBody>
                    <a:bodyPr/>
                    <a:lstStyle/>
                    <a:p>
                      <a:r>
                        <a:rPr lang="en-US" sz="1400" dirty="0"/>
                        <a:t>Year</a:t>
                      </a:r>
                      <a:endParaRPr lang="en-IN" sz="1400" dirty="0"/>
                    </a:p>
                  </a:txBody>
                  <a:tcPr/>
                </a:tc>
                <a:tc>
                  <a:txBody>
                    <a:bodyPr/>
                    <a:lstStyle/>
                    <a:p>
                      <a:r>
                        <a:rPr lang="en-US" sz="1400" dirty="0"/>
                        <a:t>Authors</a:t>
                      </a:r>
                      <a:endParaRPr lang="en-IN" sz="1400" dirty="0"/>
                    </a:p>
                  </a:txBody>
                  <a:tcPr/>
                </a:tc>
                <a:tc>
                  <a:txBody>
                    <a:bodyPr/>
                    <a:lstStyle/>
                    <a:p>
                      <a:r>
                        <a:rPr lang="en-US" sz="1400" dirty="0"/>
                        <a:t>Technology/Model</a:t>
                      </a:r>
                      <a:endParaRPr lang="en-IN" sz="1400" dirty="0"/>
                    </a:p>
                  </a:txBody>
                  <a:tcPr/>
                </a:tc>
                <a:tc>
                  <a:txBody>
                    <a:bodyPr/>
                    <a:lstStyle/>
                    <a:p>
                      <a:r>
                        <a:rPr lang="en-US" sz="1400" dirty="0"/>
                        <a:t>Description</a:t>
                      </a:r>
                      <a:endParaRPr lang="en-IN" sz="1400" dirty="0"/>
                    </a:p>
                  </a:txBody>
                  <a:tcPr/>
                </a:tc>
                <a:tc>
                  <a:txBody>
                    <a:bodyPr/>
                    <a:lstStyle/>
                    <a:p>
                      <a:r>
                        <a:rPr lang="en-US" sz="1400" dirty="0"/>
                        <a:t>Limitation/Gap</a:t>
                      </a:r>
                      <a:endParaRPr lang="en-IN" sz="1400" dirty="0"/>
                    </a:p>
                  </a:txBody>
                  <a:tcPr/>
                </a:tc>
                <a:extLst>
                  <a:ext uri="{0D108BD9-81ED-4DB2-BD59-A6C34878D82A}">
                    <a16:rowId xmlns:a16="http://schemas.microsoft.com/office/drawing/2014/main" val="1880736945"/>
                  </a:ext>
                </a:extLst>
              </a:tr>
              <a:tr h="1021793">
                <a:tc>
                  <a:txBody>
                    <a:bodyPr/>
                    <a:lstStyle/>
                    <a:p>
                      <a:r>
                        <a:rPr lang="en-IN" sz="1400" dirty="0"/>
                        <a:t>2021</a:t>
                      </a:r>
                    </a:p>
                  </a:txBody>
                  <a:tcPr/>
                </a:tc>
                <a:tc>
                  <a:txBody>
                    <a:bodyPr/>
                    <a:lstStyle/>
                    <a:p>
                      <a:r>
                        <a:rPr lang="en-IN" sz="1400" dirty="0" err="1"/>
                        <a:t>Adhiyaman</a:t>
                      </a:r>
                      <a:r>
                        <a:rPr lang="en-IN" sz="1400" dirty="0"/>
                        <a:t> Manickam, Jianmin Jiang, Yu Zhou, Abhinav Sagar, Rajkumar </a:t>
                      </a:r>
                      <a:r>
                        <a:rPr lang="en-IN" sz="1400" dirty="0" err="1"/>
                        <a:t>Soundrapandiyan</a:t>
                      </a:r>
                      <a:r>
                        <a:rPr lang="en-IN" sz="1400" dirty="0"/>
                        <a:t>, R. Dinesh Jackson Samuel</a:t>
                      </a:r>
                    </a:p>
                  </a:txBody>
                  <a:tcPr/>
                </a:tc>
                <a:tc>
                  <a:txBody>
                    <a:bodyPr/>
                    <a:lstStyle/>
                    <a:p>
                      <a:r>
                        <a:rPr lang="en-IN" sz="1400" dirty="0"/>
                        <a:t>U-Net + ResNet50 + InceptionV3 + InceptionResNetV2 + Transfer Learning</a:t>
                      </a:r>
                    </a:p>
                  </a:txBody>
                  <a:tcPr/>
                </a:tc>
                <a:tc>
                  <a:txBody>
                    <a:bodyPr/>
                    <a:lstStyle/>
                    <a:p>
                      <a:r>
                        <a:rPr lang="en-IN" sz="1400" dirty="0"/>
                        <a:t>Lung segmentation + transfer learning for pneumonia detection.</a:t>
                      </a:r>
                    </a:p>
                  </a:txBody>
                  <a:tcPr/>
                </a:tc>
                <a:tc>
                  <a:txBody>
                    <a:bodyPr/>
                    <a:lstStyle/>
                    <a:p>
                      <a:r>
                        <a:rPr lang="en-IN" sz="1400" dirty="0"/>
                        <a:t>Limited dataset; no NLP explanation or integrated system.</a:t>
                      </a:r>
                    </a:p>
                  </a:txBody>
                  <a:tcPr/>
                </a:tc>
                <a:extLst>
                  <a:ext uri="{0D108BD9-81ED-4DB2-BD59-A6C34878D82A}">
                    <a16:rowId xmlns:a16="http://schemas.microsoft.com/office/drawing/2014/main" val="3222859081"/>
                  </a:ext>
                </a:extLst>
              </a:tr>
              <a:tr h="638252">
                <a:tc>
                  <a:txBody>
                    <a:bodyPr/>
                    <a:lstStyle/>
                    <a:p>
                      <a:r>
                        <a:rPr lang="en-IN" sz="1400" dirty="0"/>
                        <a:t>2021</a:t>
                      </a:r>
                    </a:p>
                  </a:txBody>
                  <a:tcPr/>
                </a:tc>
                <a:tc>
                  <a:txBody>
                    <a:bodyPr/>
                    <a:lstStyle/>
                    <a:p>
                      <a:r>
                        <a:rPr lang="en-IN" sz="1400" dirty="0"/>
                        <a:t>Yan Han, </a:t>
                      </a:r>
                      <a:r>
                        <a:rPr lang="en-IN" sz="1400" dirty="0" err="1"/>
                        <a:t>Chongyan</a:t>
                      </a:r>
                      <a:r>
                        <a:rPr lang="en-IN" sz="1400" dirty="0"/>
                        <a:t> Chen, Ahmed H. Tewfik, Ying Ding, Yifan Peng</a:t>
                      </a:r>
                    </a:p>
                  </a:txBody>
                  <a:tcPr/>
                </a:tc>
                <a:tc>
                  <a:txBody>
                    <a:bodyPr/>
                    <a:lstStyle/>
                    <a:p>
                      <a:r>
                        <a:rPr lang="en-IN" sz="1400" dirty="0"/>
                        <a:t>Radiomic Features + Contrastive Learning</a:t>
                      </a:r>
                    </a:p>
                  </a:txBody>
                  <a:tcPr/>
                </a:tc>
                <a:tc>
                  <a:txBody>
                    <a:bodyPr/>
                    <a:lstStyle/>
                    <a:p>
                      <a:r>
                        <a:rPr lang="en-IN" sz="1400" dirty="0"/>
                        <a:t>Combined radiomic features and contrastive learning for CXR pneumonia detection.</a:t>
                      </a:r>
                    </a:p>
                  </a:txBody>
                  <a:tcPr/>
                </a:tc>
                <a:tc>
                  <a:txBody>
                    <a:bodyPr/>
                    <a:lstStyle/>
                    <a:p>
                      <a:r>
                        <a:rPr lang="en-IN" sz="1400" dirty="0"/>
                        <a:t>Mainly RSNA dataset; limited multi-dataset evaluation.</a:t>
                      </a:r>
                    </a:p>
                  </a:txBody>
                  <a:tcPr/>
                </a:tc>
                <a:extLst>
                  <a:ext uri="{0D108BD9-81ED-4DB2-BD59-A6C34878D82A}">
                    <a16:rowId xmlns:a16="http://schemas.microsoft.com/office/drawing/2014/main" val="1325578241"/>
                  </a:ext>
                </a:extLst>
              </a:tr>
              <a:tr h="638252">
                <a:tc>
                  <a:txBody>
                    <a:bodyPr/>
                    <a:lstStyle/>
                    <a:p>
                      <a:r>
                        <a:rPr lang="en-IN" sz="1400" dirty="0"/>
                        <a:t>2022</a:t>
                      </a:r>
                    </a:p>
                  </a:txBody>
                  <a:tcPr/>
                </a:tc>
                <a:tc>
                  <a:txBody>
                    <a:bodyPr/>
                    <a:lstStyle/>
                    <a:p>
                      <a:r>
                        <a:rPr lang="en-IN" sz="1400" dirty="0"/>
                        <a:t>Ahmed Salem Musallam, Ahmed Sobhy Sherif, Mohamed K. Hussein</a:t>
                      </a:r>
                    </a:p>
                  </a:txBody>
                  <a:tcPr/>
                </a:tc>
                <a:tc>
                  <a:txBody>
                    <a:bodyPr/>
                    <a:lstStyle/>
                    <a:p>
                      <a:r>
                        <a:rPr lang="en-IN" sz="1400" dirty="0" err="1"/>
                        <a:t>DeepChest</a:t>
                      </a:r>
                      <a:r>
                        <a:rPr lang="en-IN" sz="1400" dirty="0"/>
                        <a:t> / Deep CNN</a:t>
                      </a:r>
                    </a:p>
                  </a:txBody>
                  <a:tcPr/>
                </a:tc>
                <a:tc>
                  <a:txBody>
                    <a:bodyPr/>
                    <a:lstStyle/>
                    <a:p>
                      <a:r>
                        <a:rPr lang="en-IN" sz="1400" dirty="0"/>
                        <a:t>Lightweight CNN for COVID-19 and pneumonia classification.</a:t>
                      </a:r>
                    </a:p>
                  </a:txBody>
                  <a:tcPr/>
                </a:tc>
                <a:tc>
                  <a:txBody>
                    <a:bodyPr/>
                    <a:lstStyle/>
                    <a:p>
                      <a:r>
                        <a:rPr lang="en-IN" sz="1400" dirty="0"/>
                        <a:t>Limited explainability; no multi-model or LLM integration.</a:t>
                      </a:r>
                    </a:p>
                  </a:txBody>
                  <a:tcPr/>
                </a:tc>
                <a:extLst>
                  <a:ext uri="{0D108BD9-81ED-4DB2-BD59-A6C34878D82A}">
                    <a16:rowId xmlns:a16="http://schemas.microsoft.com/office/drawing/2014/main" val="1106385391"/>
                  </a:ext>
                </a:extLst>
              </a:tr>
              <a:tr h="1082576">
                <a:tc>
                  <a:txBody>
                    <a:bodyPr/>
                    <a:lstStyle/>
                    <a:p>
                      <a:r>
                        <a:rPr lang="en-IN" sz="1400" dirty="0"/>
                        <a:t>2023</a:t>
                      </a:r>
                    </a:p>
                  </a:txBody>
                  <a:tcPr/>
                </a:tc>
                <a:tc>
                  <a:txBody>
                    <a:bodyPr/>
                    <a:lstStyle/>
                    <a:p>
                      <a:r>
                        <a:rPr lang="en-IN" sz="1400" dirty="0"/>
                        <a:t>Chiagoziem C. </a:t>
                      </a:r>
                      <a:r>
                        <a:rPr lang="en-IN" sz="1400" dirty="0" err="1"/>
                        <a:t>Ukwuoma</a:t>
                      </a:r>
                      <a:r>
                        <a:rPr lang="en-IN" sz="1400" dirty="0"/>
                        <a:t>, </a:t>
                      </a:r>
                      <a:r>
                        <a:rPr lang="en-IN" sz="1400" dirty="0" err="1"/>
                        <a:t>Zhiguang</a:t>
                      </a:r>
                      <a:r>
                        <a:rPr lang="en-IN" sz="1400" dirty="0"/>
                        <a:t> Qin, Md Belal Bin Heyat, </a:t>
                      </a:r>
                      <a:r>
                        <a:rPr lang="en-IN" sz="1400" dirty="0" err="1"/>
                        <a:t>Faijan</a:t>
                      </a:r>
                      <a:r>
                        <a:rPr lang="en-IN" sz="1400" dirty="0"/>
                        <a:t> Akhtar, Olusola </a:t>
                      </a:r>
                      <a:r>
                        <a:rPr lang="en-IN" sz="1400" dirty="0" err="1"/>
                        <a:t>Bamisile</a:t>
                      </a:r>
                      <a:r>
                        <a:rPr lang="en-IN" sz="1400" dirty="0"/>
                        <a:t>, Abdullah Y. Muaad, Daniel Addo, </a:t>
                      </a:r>
                      <a:r>
                        <a:rPr lang="en-IN" sz="1400" dirty="0" err="1"/>
                        <a:t>Mugahed</a:t>
                      </a:r>
                      <a:r>
                        <a:rPr lang="en-IN" sz="1400" dirty="0"/>
                        <a:t> A. Al-</a:t>
                      </a:r>
                      <a:r>
                        <a:rPr lang="en-IN" sz="1400" dirty="0" err="1"/>
                        <a:t>Antari</a:t>
                      </a:r>
                      <a:endParaRPr lang="en-IN" sz="1400" dirty="0"/>
                    </a:p>
                  </a:txBody>
                  <a:tcPr/>
                </a:tc>
                <a:tc>
                  <a:txBody>
                    <a:bodyPr/>
                    <a:lstStyle/>
                    <a:p>
                      <a:r>
                        <a:rPr lang="en-IN" sz="1400" dirty="0"/>
                        <a:t>DenseNet201 + VGG16 + </a:t>
                      </a:r>
                      <a:r>
                        <a:rPr lang="en-IN" sz="1400" dirty="0" err="1"/>
                        <a:t>GoogleNet</a:t>
                      </a:r>
                      <a:r>
                        <a:rPr lang="en-IN" sz="1400" dirty="0"/>
                        <a:t> / InceptionResNetV2 + </a:t>
                      </a:r>
                      <a:r>
                        <a:rPr lang="en-IN" sz="1400" dirty="0" err="1"/>
                        <a:t>Xception</a:t>
                      </a:r>
                      <a:r>
                        <a:rPr lang="en-IN" sz="1400" dirty="0"/>
                        <a:t> + Transformer Encoder + XAI</a:t>
                      </a:r>
                    </a:p>
                  </a:txBody>
                  <a:tcPr/>
                </a:tc>
                <a:tc>
                  <a:txBody>
                    <a:bodyPr/>
                    <a:lstStyle/>
                    <a:p>
                      <a:r>
                        <a:rPr lang="en-IN" sz="1400" dirty="0"/>
                        <a:t>Hybrid CNN-Transformer framework with visual explanations.</a:t>
                      </a:r>
                    </a:p>
                  </a:txBody>
                  <a:tcPr/>
                </a:tc>
                <a:tc>
                  <a:txBody>
                    <a:bodyPr/>
                    <a:lstStyle/>
                    <a:p>
                      <a:r>
                        <a:rPr lang="en-IN" sz="1400" dirty="0"/>
                        <a:t>Mainly visual XAI; no natural-language reporting or web platform.</a:t>
                      </a:r>
                    </a:p>
                  </a:txBody>
                  <a:tcPr/>
                </a:tc>
                <a:extLst>
                  <a:ext uri="{0D108BD9-81ED-4DB2-BD59-A6C34878D82A}">
                    <a16:rowId xmlns:a16="http://schemas.microsoft.com/office/drawing/2014/main" val="2214868754"/>
                  </a:ext>
                </a:extLst>
              </a:tr>
              <a:tr h="914400">
                <a:tc>
                  <a:txBody>
                    <a:bodyPr/>
                    <a:lstStyle/>
                    <a:p>
                      <a:r>
                        <a:rPr lang="en-IN" sz="1400" dirty="0"/>
                        <a:t>2024</a:t>
                      </a:r>
                    </a:p>
                  </a:txBody>
                  <a:tcPr/>
                </a:tc>
                <a:tc>
                  <a:txBody>
                    <a:bodyPr/>
                    <a:lstStyle/>
                    <a:p>
                      <a:r>
                        <a:rPr lang="en-IN" sz="1400" dirty="0"/>
                        <a:t>Md </a:t>
                      </a:r>
                      <a:r>
                        <a:rPr lang="en-IN" sz="1400" dirty="0" err="1"/>
                        <a:t>Fashiar</a:t>
                      </a:r>
                      <a:r>
                        <a:rPr lang="en-IN" sz="1400" dirty="0"/>
                        <a:t> Rahman, Tzu-Liang Tseng, Michael </a:t>
                      </a:r>
                      <a:r>
                        <a:rPr lang="en-IN" sz="1400" dirty="0" err="1"/>
                        <a:t>Pokojovy</a:t>
                      </a:r>
                      <a:r>
                        <a:rPr lang="en-IN" sz="1400" dirty="0"/>
                        <a:t>, Peter McCaffrey, Eric Walser, Scott Moen, Alex Vo, Johnny C. Ho</a:t>
                      </a:r>
                    </a:p>
                  </a:txBody>
                  <a:tcPr/>
                </a:tc>
                <a:tc>
                  <a:txBody>
                    <a:bodyPr/>
                    <a:lstStyle/>
                    <a:p>
                      <a:r>
                        <a:rPr lang="en-IN" sz="1400" dirty="0"/>
                        <a:t>VGG16 + ROI Segmentation + Data Augmentation + ML-Grad-CAM</a:t>
                      </a:r>
                    </a:p>
                  </a:txBody>
                  <a:tcPr/>
                </a:tc>
                <a:tc>
                  <a:txBody>
                    <a:bodyPr/>
                    <a:lstStyle/>
                    <a:p>
                      <a:r>
                        <a:rPr lang="en-IN" sz="1400" dirty="0"/>
                        <a:t>ROI-based classification with explainable heatmaps and severity assessment.</a:t>
                      </a:r>
                    </a:p>
                  </a:txBody>
                  <a:tcPr/>
                </a:tc>
                <a:tc>
                  <a:txBody>
                    <a:bodyPr/>
                    <a:lstStyle/>
                    <a:p>
                      <a:r>
                        <a:rPr lang="en-IN" sz="1400" dirty="0"/>
                        <a:t>Heatmap-based explanation; no LLM/BERT integration.</a:t>
                      </a:r>
                    </a:p>
                  </a:txBody>
                  <a:tcPr/>
                </a:tc>
                <a:extLst>
                  <a:ext uri="{0D108BD9-81ED-4DB2-BD59-A6C34878D82A}">
                    <a16:rowId xmlns:a16="http://schemas.microsoft.com/office/drawing/2014/main" val="1162433939"/>
                  </a:ext>
                </a:extLst>
              </a:tr>
              <a:tr h="638252">
                <a:tc>
                  <a:txBody>
                    <a:bodyPr/>
                    <a:lstStyle/>
                    <a:p>
                      <a:r>
                        <a:rPr lang="en-IN" sz="1400" dirty="0"/>
                        <a:t>2024</a:t>
                      </a:r>
                    </a:p>
                  </a:txBody>
                  <a:tcPr/>
                </a:tc>
                <a:tc>
                  <a:txBody>
                    <a:bodyPr/>
                    <a:lstStyle/>
                    <a:p>
                      <a:r>
                        <a:rPr lang="en-IN" sz="1400" dirty="0"/>
                        <a:t>A.N. Patel et al. / T.R. </a:t>
                      </a:r>
                      <a:r>
                        <a:rPr lang="en-IN" sz="1400" dirty="0" err="1"/>
                        <a:t>Gadekallu</a:t>
                      </a:r>
                      <a:r>
                        <a:rPr lang="en-IN" sz="1400" dirty="0"/>
                        <a:t>, R. </a:t>
                      </a:r>
                      <a:r>
                        <a:rPr lang="en-IN" sz="1400" dirty="0" err="1"/>
                        <a:t>Chengoden</a:t>
                      </a:r>
                      <a:r>
                        <a:rPr lang="en-IN" sz="1400" dirty="0"/>
                        <a:t> et al.</a:t>
                      </a:r>
                    </a:p>
                  </a:txBody>
                  <a:tcPr/>
                </a:tc>
                <a:tc>
                  <a:txBody>
                    <a:bodyPr/>
                    <a:lstStyle/>
                    <a:p>
                      <a:r>
                        <a:rPr lang="en-IN" sz="1400" dirty="0"/>
                        <a:t>EfficientNet-B4 + Transfer Learning + Grad-CAM</a:t>
                      </a:r>
                    </a:p>
                  </a:txBody>
                  <a:tcPr/>
                </a:tc>
                <a:tc>
                  <a:txBody>
                    <a:bodyPr/>
                    <a:lstStyle/>
                    <a:p>
                      <a:r>
                        <a:rPr lang="en-IN" sz="1400" dirty="0"/>
                        <a:t>Transfer learning for lung disease classification with visual XAI.</a:t>
                      </a:r>
                    </a:p>
                  </a:txBody>
                  <a:tcPr/>
                </a:tc>
                <a:tc>
                  <a:txBody>
                    <a:bodyPr/>
                    <a:lstStyle/>
                    <a:p>
                      <a:r>
                        <a:rPr lang="en-IN" sz="1400" dirty="0"/>
                        <a:t>Single main architecture; lacks integrated NLP and deployment.</a:t>
                      </a:r>
                    </a:p>
                  </a:txBody>
                  <a:tcPr/>
                </a:tc>
                <a:extLst>
                  <a:ext uri="{0D108BD9-81ED-4DB2-BD59-A6C34878D82A}">
                    <a16:rowId xmlns:a16="http://schemas.microsoft.com/office/drawing/2014/main" val="969661857"/>
                  </a:ext>
                </a:extLst>
              </a:tr>
            </a:tbl>
          </a:graphicData>
        </a:graphic>
      </p:graphicFrame>
    </p:spTree>
    <p:extLst>
      <p:ext uri="{BB962C8B-B14F-4D97-AF65-F5344CB8AC3E}">
        <p14:creationId xmlns:p14="http://schemas.microsoft.com/office/powerpoint/2010/main" val="3711155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32823A3D-2D05-3E2C-A45E-040FADD03327}"/>
              </a:ext>
            </a:extLst>
          </p:cNvPr>
          <p:cNvSpPr txBox="1">
            <a:spLocks/>
          </p:cNvSpPr>
          <p:nvPr/>
        </p:nvSpPr>
        <p:spPr>
          <a:xfrm>
            <a:off x="844550" y="4589462"/>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IN"/>
          </a:p>
        </p:txBody>
      </p:sp>
      <p:pic>
        <p:nvPicPr>
          <p:cNvPr id="3" name="Picture 2">
            <a:extLst>
              <a:ext uri="{FF2B5EF4-FFF2-40B4-BE49-F238E27FC236}">
                <a16:creationId xmlns:a16="http://schemas.microsoft.com/office/drawing/2014/main" id="{C0F44D8B-63D6-5106-35C9-0484FD7D3A3B}"/>
              </a:ext>
            </a:extLst>
          </p:cNvPr>
          <p:cNvPicPr/>
          <p:nvPr/>
        </p:nvPicPr>
        <p:blipFill>
          <a:blip r:embed="rId2"/>
          <a:stretch>
            <a:fillRect/>
          </a:stretch>
        </p:blipFill>
        <p:spPr>
          <a:xfrm>
            <a:off x="0" y="0"/>
            <a:ext cx="1912373" cy="1035233"/>
          </a:xfrm>
          <a:prstGeom prst="rect">
            <a:avLst/>
          </a:prstGeom>
          <a:noFill/>
          <a:ln w="9525">
            <a:noFill/>
          </a:ln>
        </p:spPr>
      </p:pic>
      <p:sp>
        <p:nvSpPr>
          <p:cNvPr id="4" name="Rounded Rectangle 17">
            <a:extLst>
              <a:ext uri="{FF2B5EF4-FFF2-40B4-BE49-F238E27FC236}">
                <a16:creationId xmlns:a16="http://schemas.microsoft.com/office/drawing/2014/main" id="{9EF10894-373F-FF00-44A1-44EC82918A22}"/>
              </a:ext>
            </a:extLst>
          </p:cNvPr>
          <p:cNvSpPr/>
          <p:nvPr/>
        </p:nvSpPr>
        <p:spPr>
          <a:xfrm>
            <a:off x="3026136" y="218181"/>
            <a:ext cx="6639951" cy="55017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2400" b="1" dirty="0"/>
              <a:t>Research Gap Identification</a:t>
            </a:r>
          </a:p>
        </p:txBody>
      </p:sp>
      <p:graphicFrame>
        <p:nvGraphicFramePr>
          <p:cNvPr id="5" name="Table 4">
            <a:extLst>
              <a:ext uri="{FF2B5EF4-FFF2-40B4-BE49-F238E27FC236}">
                <a16:creationId xmlns:a16="http://schemas.microsoft.com/office/drawing/2014/main" id="{A7DB2A79-9622-BCD9-83B4-483F2E172C75}"/>
              </a:ext>
            </a:extLst>
          </p:cNvPr>
          <p:cNvGraphicFramePr>
            <a:graphicFrameLocks noGrp="1"/>
          </p:cNvGraphicFramePr>
          <p:nvPr>
            <p:extLst>
              <p:ext uri="{D42A27DB-BD31-4B8C-83A1-F6EECF244321}">
                <p14:modId xmlns:p14="http://schemas.microsoft.com/office/powerpoint/2010/main" val="2028114898"/>
              </p:ext>
            </p:extLst>
          </p:nvPr>
        </p:nvGraphicFramePr>
        <p:xfrm>
          <a:off x="268711" y="912150"/>
          <a:ext cx="11667280" cy="4842692"/>
        </p:xfrm>
        <a:graphic>
          <a:graphicData uri="http://schemas.openxmlformats.org/drawingml/2006/table">
            <a:tbl>
              <a:tblPr firstRow="1" bandRow="1">
                <a:tableStyleId>{5C22544A-7EE6-4342-B048-85BDC9FD1C3A}</a:tableStyleId>
              </a:tblPr>
              <a:tblGrid>
                <a:gridCol w="2693678">
                  <a:extLst>
                    <a:ext uri="{9D8B030D-6E8A-4147-A177-3AD203B41FA5}">
                      <a16:colId xmlns:a16="http://schemas.microsoft.com/office/drawing/2014/main" val="2886634603"/>
                    </a:ext>
                  </a:extLst>
                </a:gridCol>
                <a:gridCol w="4314079">
                  <a:extLst>
                    <a:ext uri="{9D8B030D-6E8A-4147-A177-3AD203B41FA5}">
                      <a16:colId xmlns:a16="http://schemas.microsoft.com/office/drawing/2014/main" val="1965526379"/>
                    </a:ext>
                  </a:extLst>
                </a:gridCol>
                <a:gridCol w="4659523">
                  <a:extLst>
                    <a:ext uri="{9D8B030D-6E8A-4147-A177-3AD203B41FA5}">
                      <a16:colId xmlns:a16="http://schemas.microsoft.com/office/drawing/2014/main" val="2869546241"/>
                    </a:ext>
                  </a:extLst>
                </a:gridCol>
              </a:tblGrid>
              <a:tr h="582348">
                <a:tc>
                  <a:txBody>
                    <a:bodyPr/>
                    <a:lstStyle/>
                    <a:p>
                      <a:pPr>
                        <a:buNone/>
                      </a:pPr>
                      <a:r>
                        <a:rPr lang="en-IN"/>
                        <a:t>Research Gap</a:t>
                      </a:r>
                    </a:p>
                  </a:txBody>
                  <a:tcPr anchor="ctr"/>
                </a:tc>
                <a:tc>
                  <a:txBody>
                    <a:bodyPr/>
                    <a:lstStyle/>
                    <a:p>
                      <a:pPr>
                        <a:buNone/>
                      </a:pPr>
                      <a:r>
                        <a:rPr lang="en-IN"/>
                        <a:t>Proposed Solution</a:t>
                      </a:r>
                    </a:p>
                  </a:txBody>
                  <a:tcPr anchor="ctr"/>
                </a:tc>
                <a:tc>
                  <a:txBody>
                    <a:bodyPr/>
                    <a:lstStyle/>
                    <a:p>
                      <a:pPr>
                        <a:buNone/>
                      </a:pPr>
                      <a:r>
                        <a:rPr lang="en-IN"/>
                        <a:t>Review-2 Status</a:t>
                      </a:r>
                    </a:p>
                  </a:txBody>
                  <a:tcPr anchor="ctr"/>
                </a:tc>
                <a:extLst>
                  <a:ext uri="{0D108BD9-81ED-4DB2-BD59-A6C34878D82A}">
                    <a16:rowId xmlns:a16="http://schemas.microsoft.com/office/drawing/2014/main" val="627140537"/>
                  </a:ext>
                </a:extLst>
              </a:tr>
              <a:tr h="773912">
                <a:tc>
                  <a:txBody>
                    <a:bodyPr/>
                    <a:lstStyle/>
                    <a:p>
                      <a:pPr>
                        <a:buNone/>
                      </a:pPr>
                      <a:r>
                        <a:rPr lang="en-IN"/>
                        <a:t>Limited Generalization</a:t>
                      </a:r>
                    </a:p>
                  </a:txBody>
                  <a:tcPr anchor="ctr"/>
                </a:tc>
                <a:tc>
                  <a:txBody>
                    <a:bodyPr/>
                    <a:lstStyle/>
                    <a:p>
                      <a:pPr>
                        <a:buNone/>
                      </a:pPr>
                      <a:r>
                        <a:rPr lang="en-IN"/>
                        <a:t>Multiple CXR datasets</a:t>
                      </a:r>
                    </a:p>
                  </a:txBody>
                  <a:tcPr anchor="ctr"/>
                </a:tc>
                <a:tc>
                  <a:txBody>
                    <a:bodyPr/>
                    <a:lstStyle/>
                    <a:p>
                      <a:pPr>
                        <a:buNone/>
                      </a:pPr>
                      <a:r>
                        <a:rPr lang="en-IN"/>
                        <a:t>Future</a:t>
                      </a:r>
                    </a:p>
                  </a:txBody>
                  <a:tcPr anchor="ctr"/>
                </a:tc>
                <a:extLst>
                  <a:ext uri="{0D108BD9-81ED-4DB2-BD59-A6C34878D82A}">
                    <a16:rowId xmlns:a16="http://schemas.microsoft.com/office/drawing/2014/main" val="1907690138"/>
                  </a:ext>
                </a:extLst>
              </a:tr>
              <a:tr h="773912">
                <a:tc>
                  <a:txBody>
                    <a:bodyPr/>
                    <a:lstStyle/>
                    <a:p>
                      <a:pPr>
                        <a:buNone/>
                      </a:pPr>
                      <a:r>
                        <a:rPr lang="en-IN"/>
                        <a:t>Limited Model Diversity</a:t>
                      </a:r>
                    </a:p>
                  </a:txBody>
                  <a:tcPr anchor="ctr"/>
                </a:tc>
                <a:tc>
                  <a:txBody>
                    <a:bodyPr/>
                    <a:lstStyle/>
                    <a:p>
                      <a:pPr>
                        <a:buNone/>
                      </a:pPr>
                      <a:r>
                        <a:rPr lang="en-IN"/>
                        <a:t>CNN/DenseNet/EfficientNet/Transformer comparison</a:t>
                      </a:r>
                    </a:p>
                  </a:txBody>
                  <a:tcPr anchor="ctr"/>
                </a:tc>
                <a:tc>
                  <a:txBody>
                    <a:bodyPr/>
                    <a:lstStyle/>
                    <a:p>
                      <a:pPr>
                        <a:buNone/>
                      </a:pPr>
                      <a:r>
                        <a:rPr lang="en-IN"/>
                        <a:t>Future</a:t>
                      </a:r>
                    </a:p>
                  </a:txBody>
                  <a:tcPr anchor="ctr"/>
                </a:tc>
                <a:extLst>
                  <a:ext uri="{0D108BD9-81ED-4DB2-BD59-A6C34878D82A}">
                    <a16:rowId xmlns:a16="http://schemas.microsoft.com/office/drawing/2014/main" val="2879319615"/>
                  </a:ext>
                </a:extLst>
              </a:tr>
              <a:tr h="582348">
                <a:tc>
                  <a:txBody>
                    <a:bodyPr/>
                    <a:lstStyle/>
                    <a:p>
                      <a:pPr>
                        <a:buNone/>
                      </a:pPr>
                      <a:r>
                        <a:rPr lang="en-IN" b="1"/>
                        <a:t>Limited Explainability</a:t>
                      </a:r>
                      <a:endParaRPr lang="en-IN"/>
                    </a:p>
                  </a:txBody>
                  <a:tcPr anchor="ctr"/>
                </a:tc>
                <a:tc>
                  <a:txBody>
                    <a:bodyPr/>
                    <a:lstStyle/>
                    <a:p>
                      <a:pPr>
                        <a:buNone/>
                      </a:pPr>
                      <a:r>
                        <a:rPr lang="en-IN" b="1"/>
                        <a:t>Grad-CAM</a:t>
                      </a:r>
                      <a:endParaRPr lang="en-IN"/>
                    </a:p>
                  </a:txBody>
                  <a:tcPr anchor="ctr"/>
                </a:tc>
                <a:tc>
                  <a:txBody>
                    <a:bodyPr/>
                    <a:lstStyle/>
                    <a:p>
                      <a:pPr>
                        <a:buNone/>
                      </a:pPr>
                      <a:r>
                        <a:rPr lang="en-IN" b="1"/>
                        <a:t>Implemented</a:t>
                      </a:r>
                      <a:endParaRPr lang="en-IN"/>
                    </a:p>
                  </a:txBody>
                  <a:tcPr anchor="ctr"/>
                </a:tc>
                <a:extLst>
                  <a:ext uri="{0D108BD9-81ED-4DB2-BD59-A6C34878D82A}">
                    <a16:rowId xmlns:a16="http://schemas.microsoft.com/office/drawing/2014/main" val="965428344"/>
                  </a:ext>
                </a:extLst>
              </a:tr>
              <a:tr h="773912">
                <a:tc>
                  <a:txBody>
                    <a:bodyPr/>
                    <a:lstStyle/>
                    <a:p>
                      <a:pPr>
                        <a:buNone/>
                      </a:pPr>
                      <a:r>
                        <a:rPr lang="en-IN"/>
                        <a:t>Natural-language explanation</a:t>
                      </a:r>
                    </a:p>
                  </a:txBody>
                  <a:tcPr anchor="ctr"/>
                </a:tc>
                <a:tc>
                  <a:txBody>
                    <a:bodyPr/>
                    <a:lstStyle/>
                    <a:p>
                      <a:pPr>
                        <a:buNone/>
                      </a:pPr>
                      <a:r>
                        <a:rPr lang="en-IN"/>
                        <a:t>BERT + LLM</a:t>
                      </a:r>
                    </a:p>
                  </a:txBody>
                  <a:tcPr anchor="ctr"/>
                </a:tc>
                <a:tc>
                  <a:txBody>
                    <a:bodyPr/>
                    <a:lstStyle/>
                    <a:p>
                      <a:pPr>
                        <a:buNone/>
                      </a:pPr>
                      <a:r>
                        <a:rPr lang="en-IN"/>
                        <a:t>Future</a:t>
                      </a:r>
                    </a:p>
                  </a:txBody>
                  <a:tcPr anchor="ctr"/>
                </a:tc>
                <a:extLst>
                  <a:ext uri="{0D108BD9-81ED-4DB2-BD59-A6C34878D82A}">
                    <a16:rowId xmlns:a16="http://schemas.microsoft.com/office/drawing/2014/main" val="469641153"/>
                  </a:ext>
                </a:extLst>
              </a:tr>
              <a:tr h="773912">
                <a:tc>
                  <a:txBody>
                    <a:bodyPr/>
                    <a:lstStyle/>
                    <a:p>
                      <a:pPr>
                        <a:buNone/>
                      </a:pPr>
                      <a:r>
                        <a:rPr lang="en-IN"/>
                        <a:t>End-to-end system</a:t>
                      </a:r>
                    </a:p>
                  </a:txBody>
                  <a:tcPr anchor="ctr"/>
                </a:tc>
                <a:tc>
                  <a:txBody>
                    <a:bodyPr/>
                    <a:lstStyle/>
                    <a:p>
                      <a:pPr>
                        <a:buNone/>
                      </a:pPr>
                      <a:r>
                        <a:rPr lang="en-IN"/>
                        <a:t>FastAPI/web interface</a:t>
                      </a:r>
                    </a:p>
                  </a:txBody>
                  <a:tcPr anchor="ctr"/>
                </a:tc>
                <a:tc>
                  <a:txBody>
                    <a:bodyPr/>
                    <a:lstStyle/>
                    <a:p>
                      <a:pPr>
                        <a:buNone/>
                      </a:pPr>
                      <a:r>
                        <a:rPr lang="en-IN" b="1"/>
                        <a:t>Prototype implemented</a:t>
                      </a:r>
                      <a:endParaRPr lang="en-IN"/>
                    </a:p>
                  </a:txBody>
                  <a:tcPr anchor="ctr"/>
                </a:tc>
                <a:extLst>
                  <a:ext uri="{0D108BD9-81ED-4DB2-BD59-A6C34878D82A}">
                    <a16:rowId xmlns:a16="http://schemas.microsoft.com/office/drawing/2014/main" val="2953350241"/>
                  </a:ext>
                </a:extLst>
              </a:tr>
              <a:tr h="582348">
                <a:tc>
                  <a:txBody>
                    <a:bodyPr/>
                    <a:lstStyle/>
                    <a:p>
                      <a:pPr>
                        <a:buNone/>
                      </a:pPr>
                      <a:r>
                        <a:rPr lang="en-IN"/>
                        <a:t>Limited evaluation</a:t>
                      </a:r>
                    </a:p>
                  </a:txBody>
                  <a:tcPr anchor="ctr"/>
                </a:tc>
                <a:tc>
                  <a:txBody>
                    <a:bodyPr/>
                    <a:lstStyle/>
                    <a:p>
                      <a:pPr>
                        <a:buNone/>
                      </a:pPr>
                      <a:r>
                        <a:rPr lang="en-IN"/>
                        <a:t>Multiple metrics + confusion matrix</a:t>
                      </a:r>
                    </a:p>
                  </a:txBody>
                  <a:tcPr anchor="ctr"/>
                </a:tc>
                <a:tc>
                  <a:txBody>
                    <a:bodyPr/>
                    <a:lstStyle/>
                    <a:p>
                      <a:pPr>
                        <a:buNone/>
                      </a:pPr>
                      <a:r>
                        <a:rPr lang="en-IN" b="1" dirty="0"/>
                        <a:t>Implemented</a:t>
                      </a:r>
                      <a:endParaRPr lang="en-IN" dirty="0"/>
                    </a:p>
                  </a:txBody>
                  <a:tcPr anchor="ctr"/>
                </a:tc>
                <a:extLst>
                  <a:ext uri="{0D108BD9-81ED-4DB2-BD59-A6C34878D82A}">
                    <a16:rowId xmlns:a16="http://schemas.microsoft.com/office/drawing/2014/main" val="161960273"/>
                  </a:ext>
                </a:extLst>
              </a:tr>
            </a:tbl>
          </a:graphicData>
        </a:graphic>
      </p:graphicFrame>
      <p:sp>
        <p:nvSpPr>
          <p:cNvPr id="7" name="TextBox 6">
            <a:extLst>
              <a:ext uri="{FF2B5EF4-FFF2-40B4-BE49-F238E27FC236}">
                <a16:creationId xmlns:a16="http://schemas.microsoft.com/office/drawing/2014/main" id="{E03BC5D8-EC04-F89E-33F0-54F5FFF6C67B}"/>
              </a:ext>
            </a:extLst>
          </p:cNvPr>
          <p:cNvSpPr txBox="1"/>
          <p:nvPr/>
        </p:nvSpPr>
        <p:spPr>
          <a:xfrm>
            <a:off x="268711" y="5993488"/>
            <a:ext cx="11667279" cy="369332"/>
          </a:xfrm>
          <a:prstGeom prst="rect">
            <a:avLst/>
          </a:prstGeom>
          <a:noFill/>
        </p:spPr>
        <p:txBody>
          <a:bodyPr wrap="square" rtlCol="0">
            <a:spAutoFit/>
          </a:bodyPr>
          <a:lstStyle/>
          <a:p>
            <a:r>
              <a:rPr lang="en-IN" dirty="0"/>
              <a:t>Selected research gap: Limited Explainability</a:t>
            </a:r>
          </a:p>
        </p:txBody>
      </p:sp>
    </p:spTree>
    <p:extLst>
      <p:ext uri="{BB962C8B-B14F-4D97-AF65-F5344CB8AC3E}">
        <p14:creationId xmlns:p14="http://schemas.microsoft.com/office/powerpoint/2010/main" val="2689925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A39312-8A41-C7D3-47A5-50A867BE42DD}"/>
              </a:ext>
            </a:extLst>
          </p:cNvPr>
          <p:cNvSpPr>
            <a:spLocks noGrp="1"/>
          </p:cNvSpPr>
          <p:nvPr>
            <p:ph type="body" idx="1"/>
          </p:nvPr>
        </p:nvSpPr>
        <p:spPr>
          <a:xfrm>
            <a:off x="664580" y="1657249"/>
            <a:ext cx="10515600" cy="4616229"/>
          </a:xfrm>
        </p:spPr>
        <p:txBody>
          <a:bodyPr>
            <a:normAutofit/>
          </a:bodyPr>
          <a:lstStyle/>
          <a:p>
            <a:pPr marL="457200" lvl="0" indent="-457200">
              <a:buFont typeface="Arial" panose="020B0604020202020204" pitchFamily="34" charset="0"/>
              <a:buChar char="•"/>
            </a:pPr>
            <a:r>
              <a:rPr lang="en-IN" dirty="0">
                <a:solidFill>
                  <a:schemeClr val="tx1"/>
                </a:solidFill>
              </a:rPr>
              <a:t>DenseNet-121 transfer learning for pneumonia classification. </a:t>
            </a:r>
          </a:p>
          <a:p>
            <a:pPr marL="457200" lvl="0" indent="-457200">
              <a:buFont typeface="Arial" panose="020B0604020202020204" pitchFamily="34" charset="0"/>
              <a:buChar char="•"/>
            </a:pPr>
            <a:r>
              <a:rPr lang="en-IN" dirty="0">
                <a:solidFill>
                  <a:schemeClr val="tx1"/>
                </a:solidFill>
              </a:rPr>
              <a:t>Grad-CAM based visual explainability. </a:t>
            </a:r>
          </a:p>
          <a:p>
            <a:pPr marL="457200" lvl="0" indent="-457200">
              <a:buFont typeface="Arial" panose="020B0604020202020204" pitchFamily="34" charset="0"/>
              <a:buChar char="•"/>
            </a:pPr>
            <a:r>
              <a:rPr lang="en-IN" dirty="0">
                <a:solidFill>
                  <a:schemeClr val="tx1"/>
                </a:solidFill>
              </a:rPr>
              <a:t>Confidence-based prediction output. </a:t>
            </a:r>
          </a:p>
          <a:p>
            <a:pPr marL="457200" lvl="0" indent="-457200">
              <a:buFont typeface="Arial" panose="020B0604020202020204" pitchFamily="34" charset="0"/>
              <a:buChar char="•"/>
            </a:pPr>
            <a:r>
              <a:rPr lang="en-IN" dirty="0">
                <a:solidFill>
                  <a:schemeClr val="tx1"/>
                </a:solidFill>
              </a:rPr>
              <a:t>Automated evaluation using multiple performance metrics. </a:t>
            </a:r>
          </a:p>
          <a:p>
            <a:pPr marL="457200" lvl="0" indent="-457200">
              <a:buFont typeface="Arial" panose="020B0604020202020204" pitchFamily="34" charset="0"/>
              <a:buChar char="•"/>
            </a:pPr>
            <a:r>
              <a:rPr lang="en-IN" dirty="0" err="1">
                <a:solidFill>
                  <a:schemeClr val="tx1"/>
                </a:solidFill>
              </a:rPr>
              <a:t>FastAPI</a:t>
            </a:r>
            <a:r>
              <a:rPr lang="en-IN" dirty="0">
                <a:solidFill>
                  <a:schemeClr val="tx1"/>
                </a:solidFill>
              </a:rPr>
              <a:t>-based local prediction interface. </a:t>
            </a:r>
          </a:p>
          <a:p>
            <a:pPr marL="457200" lvl="0" indent="-457200">
              <a:buFont typeface="Arial" panose="020B0604020202020204" pitchFamily="34" charset="0"/>
              <a:buChar char="•"/>
            </a:pPr>
            <a:r>
              <a:rPr lang="en-IN" dirty="0">
                <a:solidFill>
                  <a:schemeClr val="tx1"/>
                </a:solidFill>
              </a:rPr>
              <a:t>Modular architecture allowing future integration of additional datasets and models.</a:t>
            </a:r>
          </a:p>
        </p:txBody>
      </p:sp>
      <p:sp>
        <p:nvSpPr>
          <p:cNvPr id="6" name="Rounded Rectangle 17">
            <a:extLst>
              <a:ext uri="{FF2B5EF4-FFF2-40B4-BE49-F238E27FC236}">
                <a16:creationId xmlns:a16="http://schemas.microsoft.com/office/drawing/2014/main" id="{6473780F-FDD5-15C6-EB41-2195676E5332}"/>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Innovation</a:t>
            </a:r>
            <a:endParaRPr lang="en-US" sz="2400" b="1" dirty="0">
              <a:solidFill>
                <a:schemeClr val="bg1"/>
              </a:solidFill>
            </a:endParaRPr>
          </a:p>
        </p:txBody>
      </p:sp>
    </p:spTree>
    <p:extLst>
      <p:ext uri="{BB962C8B-B14F-4D97-AF65-F5344CB8AC3E}">
        <p14:creationId xmlns:p14="http://schemas.microsoft.com/office/powerpoint/2010/main" val="3295904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DCCC40E-8536-60F1-BC34-723332428BFB}"/>
              </a:ext>
            </a:extLst>
          </p:cNvPr>
          <p:cNvSpPr>
            <a:spLocks noGrp="1"/>
          </p:cNvSpPr>
          <p:nvPr>
            <p:ph type="body" idx="1"/>
          </p:nvPr>
        </p:nvSpPr>
        <p:spPr>
          <a:xfrm>
            <a:off x="838200" y="1552266"/>
            <a:ext cx="10515600" cy="4281375"/>
          </a:xfrm>
        </p:spPr>
        <p:txBody>
          <a:bodyPr>
            <a:noAutofit/>
          </a:bodyPr>
          <a:lstStyle/>
          <a:p>
            <a:pPr marL="342900" lvl="0" indent="-342900">
              <a:buFont typeface="Arial" panose="020B0604020202020204" pitchFamily="34" charset="0"/>
              <a:buChar char="•"/>
            </a:pPr>
            <a:r>
              <a:rPr lang="en-IN" dirty="0">
                <a:solidFill>
                  <a:schemeClr val="tx1"/>
                </a:solidFill>
              </a:rPr>
              <a:t>Upload → Predict → Explain workflow. </a:t>
            </a:r>
          </a:p>
          <a:p>
            <a:pPr marL="342900" lvl="0" indent="-342900">
              <a:buFont typeface="Arial" panose="020B0604020202020204" pitchFamily="34" charset="0"/>
              <a:buChar char="•"/>
            </a:pPr>
            <a:r>
              <a:rPr lang="en-IN" dirty="0">
                <a:solidFill>
                  <a:schemeClr val="tx1"/>
                </a:solidFill>
              </a:rPr>
              <a:t>Combines classification with visual explanation. </a:t>
            </a:r>
          </a:p>
          <a:p>
            <a:pPr marL="342900" lvl="0" indent="-342900">
              <a:buFont typeface="Arial" panose="020B0604020202020204" pitchFamily="34" charset="0"/>
              <a:buChar char="•"/>
            </a:pPr>
            <a:r>
              <a:rPr lang="en-IN" dirty="0">
                <a:solidFill>
                  <a:schemeClr val="tx1"/>
                </a:solidFill>
              </a:rPr>
              <a:t>Displays prediction confidence. </a:t>
            </a:r>
          </a:p>
          <a:p>
            <a:pPr marL="342900" lvl="0" indent="-342900">
              <a:buFont typeface="Arial" panose="020B0604020202020204" pitchFamily="34" charset="0"/>
              <a:buChar char="•"/>
            </a:pPr>
            <a:r>
              <a:rPr lang="en-IN" dirty="0">
                <a:solidFill>
                  <a:schemeClr val="tx1"/>
                </a:solidFill>
              </a:rPr>
              <a:t>Generates Grad-CAM visualization automatically. </a:t>
            </a:r>
          </a:p>
          <a:p>
            <a:pPr marL="342900" lvl="0" indent="-342900">
              <a:buFont typeface="Arial" panose="020B0604020202020204" pitchFamily="34" charset="0"/>
              <a:buChar char="•"/>
            </a:pPr>
            <a:r>
              <a:rPr lang="en-IN" dirty="0">
                <a:solidFill>
                  <a:schemeClr val="tx1"/>
                </a:solidFill>
              </a:rPr>
              <a:t>Integrates deep-learning inference into a simple web interface. </a:t>
            </a:r>
          </a:p>
        </p:txBody>
      </p:sp>
      <p:sp>
        <p:nvSpPr>
          <p:cNvPr id="4" name="Rounded Rectangle 17">
            <a:extLst>
              <a:ext uri="{FF2B5EF4-FFF2-40B4-BE49-F238E27FC236}">
                <a16:creationId xmlns:a16="http://schemas.microsoft.com/office/drawing/2014/main" id="{29365DB9-FA38-7CFE-AFE7-71BB60CD2387}"/>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Creativity</a:t>
            </a:r>
            <a:endParaRPr lang="en-US" sz="2400" b="1" dirty="0">
              <a:solidFill>
                <a:schemeClr val="bg1"/>
              </a:solidFill>
            </a:endParaRPr>
          </a:p>
        </p:txBody>
      </p:sp>
    </p:spTree>
    <p:extLst>
      <p:ext uri="{BB962C8B-B14F-4D97-AF65-F5344CB8AC3E}">
        <p14:creationId xmlns:p14="http://schemas.microsoft.com/office/powerpoint/2010/main" val="3764794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04390-AA17-2F00-A029-FDA67782619A}"/>
              </a:ext>
            </a:extLst>
          </p:cNvPr>
          <p:cNvSpPr>
            <a:spLocks noGrp="1"/>
          </p:cNvSpPr>
          <p:nvPr>
            <p:ph type="body" idx="1"/>
          </p:nvPr>
        </p:nvSpPr>
        <p:spPr>
          <a:xfrm>
            <a:off x="838200" y="1242759"/>
            <a:ext cx="10515600" cy="5066601"/>
          </a:xfrm>
        </p:spPr>
        <p:txBody>
          <a:bodyPr/>
          <a:lstStyle/>
          <a:p>
            <a:endParaRPr lang="en-US" dirty="0">
              <a:solidFill>
                <a:prstClr val="black"/>
              </a:solidFill>
              <a:latin typeface="Times New Roman" panose="02020603050405020304" pitchFamily="18" charset="0"/>
              <a:cs typeface="Times New Roman" panose="02020603050405020304" pitchFamily="18" charset="0"/>
            </a:endParaRPr>
          </a:p>
          <a:p>
            <a:pPr marL="457200" indent="-457200">
              <a:buAutoNum type="arabicPeriod"/>
            </a:pPr>
            <a:endParaRPr lang="en-IN" dirty="0"/>
          </a:p>
        </p:txBody>
      </p:sp>
      <p:sp>
        <p:nvSpPr>
          <p:cNvPr id="4" name="Rounded Rectangle 17">
            <a:extLst>
              <a:ext uri="{FF2B5EF4-FFF2-40B4-BE49-F238E27FC236}">
                <a16:creationId xmlns:a16="http://schemas.microsoft.com/office/drawing/2014/main" id="{FB10FB67-2697-DD20-452D-E17DBBD36602}"/>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Novelty</a:t>
            </a:r>
            <a:r>
              <a:rPr lang="en-US" sz="2400" b="1" dirty="0">
                <a:solidFill>
                  <a:schemeClr val="bg1"/>
                </a:solidFill>
              </a:rPr>
              <a:t> </a:t>
            </a:r>
            <a:r>
              <a:rPr lang="en-IN" sz="2400" dirty="0"/>
              <a:t>And Feasibility</a:t>
            </a:r>
            <a:endParaRPr lang="en-US" sz="2400" b="1" dirty="0">
              <a:solidFill>
                <a:schemeClr val="bg1"/>
              </a:solidFill>
            </a:endParaRPr>
          </a:p>
        </p:txBody>
      </p:sp>
      <p:graphicFrame>
        <p:nvGraphicFramePr>
          <p:cNvPr id="6" name="Table 5">
            <a:extLst>
              <a:ext uri="{FF2B5EF4-FFF2-40B4-BE49-F238E27FC236}">
                <a16:creationId xmlns:a16="http://schemas.microsoft.com/office/drawing/2014/main" id="{223AB4FC-3BF7-5CDC-DD1C-7681A1490532}"/>
              </a:ext>
            </a:extLst>
          </p:cNvPr>
          <p:cNvGraphicFramePr>
            <a:graphicFrameLocks noGrp="1"/>
          </p:cNvGraphicFramePr>
          <p:nvPr>
            <p:extLst>
              <p:ext uri="{D42A27DB-BD31-4B8C-83A1-F6EECF244321}">
                <p14:modId xmlns:p14="http://schemas.microsoft.com/office/powerpoint/2010/main" val="212340894"/>
              </p:ext>
            </p:extLst>
          </p:nvPr>
        </p:nvGraphicFramePr>
        <p:xfrm>
          <a:off x="2615238" y="1956543"/>
          <a:ext cx="7050849" cy="4683276"/>
        </p:xfrm>
        <a:graphic>
          <a:graphicData uri="http://schemas.openxmlformats.org/drawingml/2006/table">
            <a:tbl>
              <a:tblPr firstRow="1" bandRow="1">
                <a:tableStyleId>{5C22544A-7EE6-4342-B048-85BDC9FD1C3A}</a:tableStyleId>
              </a:tblPr>
              <a:tblGrid>
                <a:gridCol w="3320097">
                  <a:extLst>
                    <a:ext uri="{9D8B030D-6E8A-4147-A177-3AD203B41FA5}">
                      <a16:colId xmlns:a16="http://schemas.microsoft.com/office/drawing/2014/main" val="2507637304"/>
                    </a:ext>
                  </a:extLst>
                </a:gridCol>
                <a:gridCol w="3730752">
                  <a:extLst>
                    <a:ext uri="{9D8B030D-6E8A-4147-A177-3AD203B41FA5}">
                      <a16:colId xmlns:a16="http://schemas.microsoft.com/office/drawing/2014/main" val="1513952708"/>
                    </a:ext>
                  </a:extLst>
                </a:gridCol>
              </a:tblGrid>
              <a:tr h="368977">
                <a:tc>
                  <a:txBody>
                    <a:bodyPr/>
                    <a:lstStyle/>
                    <a:p>
                      <a:pPr>
                        <a:buNone/>
                      </a:pPr>
                      <a:r>
                        <a:rPr lang="en-IN"/>
                        <a:t>Aspect</a:t>
                      </a:r>
                    </a:p>
                  </a:txBody>
                  <a:tcPr anchor="ctr"/>
                </a:tc>
                <a:tc>
                  <a:txBody>
                    <a:bodyPr/>
                    <a:lstStyle/>
                    <a:p>
                      <a:pPr>
                        <a:buNone/>
                      </a:pPr>
                      <a:r>
                        <a:rPr lang="en-IN"/>
                        <a:t>Implementation</a:t>
                      </a:r>
                    </a:p>
                  </a:txBody>
                  <a:tcPr anchor="ctr"/>
                </a:tc>
                <a:extLst>
                  <a:ext uri="{0D108BD9-81ED-4DB2-BD59-A6C34878D82A}">
                    <a16:rowId xmlns:a16="http://schemas.microsoft.com/office/drawing/2014/main" val="845258452"/>
                  </a:ext>
                </a:extLst>
              </a:tr>
              <a:tr h="432984">
                <a:tc>
                  <a:txBody>
                    <a:bodyPr/>
                    <a:lstStyle/>
                    <a:p>
                      <a:pPr>
                        <a:buNone/>
                      </a:pPr>
                      <a:r>
                        <a:rPr lang="en-IN"/>
                        <a:t>Development</a:t>
                      </a:r>
                    </a:p>
                  </a:txBody>
                  <a:tcPr anchor="ctr"/>
                </a:tc>
                <a:tc>
                  <a:txBody>
                    <a:bodyPr/>
                    <a:lstStyle/>
                    <a:p>
                      <a:pPr>
                        <a:buNone/>
                      </a:pPr>
                      <a:r>
                        <a:rPr lang="en-IN"/>
                        <a:t>VS Code</a:t>
                      </a:r>
                    </a:p>
                  </a:txBody>
                  <a:tcPr anchor="ctr"/>
                </a:tc>
                <a:extLst>
                  <a:ext uri="{0D108BD9-81ED-4DB2-BD59-A6C34878D82A}">
                    <a16:rowId xmlns:a16="http://schemas.microsoft.com/office/drawing/2014/main" val="3734955910"/>
                  </a:ext>
                </a:extLst>
              </a:tr>
              <a:tr h="432984">
                <a:tc>
                  <a:txBody>
                    <a:bodyPr/>
                    <a:lstStyle/>
                    <a:p>
                      <a:pPr>
                        <a:buNone/>
                      </a:pPr>
                      <a:r>
                        <a:rPr lang="en-IN"/>
                        <a:t>Programming</a:t>
                      </a:r>
                    </a:p>
                  </a:txBody>
                  <a:tcPr anchor="ctr"/>
                </a:tc>
                <a:tc>
                  <a:txBody>
                    <a:bodyPr/>
                    <a:lstStyle/>
                    <a:p>
                      <a:pPr>
                        <a:buNone/>
                      </a:pPr>
                      <a:r>
                        <a:rPr lang="en-IN"/>
                        <a:t>Python 3.11</a:t>
                      </a:r>
                    </a:p>
                  </a:txBody>
                  <a:tcPr anchor="ctr"/>
                </a:tc>
                <a:extLst>
                  <a:ext uri="{0D108BD9-81ED-4DB2-BD59-A6C34878D82A}">
                    <a16:rowId xmlns:a16="http://schemas.microsoft.com/office/drawing/2014/main" val="2280027821"/>
                  </a:ext>
                </a:extLst>
              </a:tr>
              <a:tr h="481450">
                <a:tc>
                  <a:txBody>
                    <a:bodyPr/>
                    <a:lstStyle/>
                    <a:p>
                      <a:pPr>
                        <a:buNone/>
                      </a:pPr>
                      <a:r>
                        <a:rPr lang="en-IN"/>
                        <a:t>Deep Learning</a:t>
                      </a:r>
                    </a:p>
                  </a:txBody>
                  <a:tcPr anchor="ctr"/>
                </a:tc>
                <a:tc>
                  <a:txBody>
                    <a:bodyPr/>
                    <a:lstStyle/>
                    <a:p>
                      <a:pPr>
                        <a:buNone/>
                      </a:pPr>
                      <a:r>
                        <a:rPr lang="en-IN"/>
                        <a:t>PyTorch</a:t>
                      </a:r>
                    </a:p>
                  </a:txBody>
                  <a:tcPr anchor="ctr"/>
                </a:tc>
                <a:extLst>
                  <a:ext uri="{0D108BD9-81ED-4DB2-BD59-A6C34878D82A}">
                    <a16:rowId xmlns:a16="http://schemas.microsoft.com/office/drawing/2014/main" val="881480654"/>
                  </a:ext>
                </a:extLst>
              </a:tr>
              <a:tr h="368977">
                <a:tc>
                  <a:txBody>
                    <a:bodyPr/>
                    <a:lstStyle/>
                    <a:p>
                      <a:pPr>
                        <a:buNone/>
                      </a:pPr>
                      <a:r>
                        <a:rPr lang="en-IN"/>
                        <a:t>Model</a:t>
                      </a:r>
                    </a:p>
                  </a:txBody>
                  <a:tcPr anchor="ctr"/>
                </a:tc>
                <a:tc>
                  <a:txBody>
                    <a:bodyPr/>
                    <a:lstStyle/>
                    <a:p>
                      <a:pPr>
                        <a:buNone/>
                      </a:pPr>
                      <a:r>
                        <a:rPr lang="en-IN"/>
                        <a:t>DenseNet-121</a:t>
                      </a:r>
                    </a:p>
                  </a:txBody>
                  <a:tcPr anchor="ctr"/>
                </a:tc>
                <a:extLst>
                  <a:ext uri="{0D108BD9-81ED-4DB2-BD59-A6C34878D82A}">
                    <a16:rowId xmlns:a16="http://schemas.microsoft.com/office/drawing/2014/main" val="3987725248"/>
                  </a:ext>
                </a:extLst>
              </a:tr>
              <a:tr h="432984">
                <a:tc>
                  <a:txBody>
                    <a:bodyPr/>
                    <a:lstStyle/>
                    <a:p>
                      <a:pPr>
                        <a:buNone/>
                      </a:pPr>
                      <a:r>
                        <a:rPr lang="en-IN"/>
                        <a:t>Image Processing</a:t>
                      </a:r>
                    </a:p>
                  </a:txBody>
                  <a:tcPr anchor="ctr"/>
                </a:tc>
                <a:tc>
                  <a:txBody>
                    <a:bodyPr/>
                    <a:lstStyle/>
                    <a:p>
                      <a:pPr>
                        <a:buNone/>
                      </a:pPr>
                      <a:r>
                        <a:rPr lang="en-IN"/>
                        <a:t>Pillow / Torchvision</a:t>
                      </a:r>
                    </a:p>
                  </a:txBody>
                  <a:tcPr anchor="ctr"/>
                </a:tc>
                <a:extLst>
                  <a:ext uri="{0D108BD9-81ED-4DB2-BD59-A6C34878D82A}">
                    <a16:rowId xmlns:a16="http://schemas.microsoft.com/office/drawing/2014/main" val="847018357"/>
                  </a:ext>
                </a:extLst>
              </a:tr>
              <a:tr h="432984">
                <a:tc>
                  <a:txBody>
                    <a:bodyPr/>
                    <a:lstStyle/>
                    <a:p>
                      <a:pPr>
                        <a:buNone/>
                      </a:pPr>
                      <a:r>
                        <a:rPr lang="en-IN"/>
                        <a:t>Evaluation</a:t>
                      </a:r>
                    </a:p>
                  </a:txBody>
                  <a:tcPr anchor="ctr"/>
                </a:tc>
                <a:tc>
                  <a:txBody>
                    <a:bodyPr/>
                    <a:lstStyle/>
                    <a:p>
                      <a:pPr>
                        <a:buNone/>
                      </a:pPr>
                      <a:r>
                        <a:rPr lang="en-IN"/>
                        <a:t>Scikit-learn</a:t>
                      </a:r>
                    </a:p>
                  </a:txBody>
                  <a:tcPr anchor="ctr"/>
                </a:tc>
                <a:extLst>
                  <a:ext uri="{0D108BD9-81ED-4DB2-BD59-A6C34878D82A}">
                    <a16:rowId xmlns:a16="http://schemas.microsoft.com/office/drawing/2014/main" val="3093951865"/>
                  </a:ext>
                </a:extLst>
              </a:tr>
              <a:tr h="432984">
                <a:tc>
                  <a:txBody>
                    <a:bodyPr/>
                    <a:lstStyle/>
                    <a:p>
                      <a:pPr>
                        <a:buNone/>
                      </a:pPr>
                      <a:r>
                        <a:rPr lang="en-IN"/>
                        <a:t>Explainability</a:t>
                      </a:r>
                    </a:p>
                  </a:txBody>
                  <a:tcPr anchor="ctr"/>
                </a:tc>
                <a:tc>
                  <a:txBody>
                    <a:bodyPr/>
                    <a:lstStyle/>
                    <a:p>
                      <a:pPr>
                        <a:buNone/>
                      </a:pPr>
                      <a:r>
                        <a:rPr lang="en-IN"/>
                        <a:t>Grad-CAM</a:t>
                      </a:r>
                    </a:p>
                  </a:txBody>
                  <a:tcPr anchor="ctr"/>
                </a:tc>
                <a:extLst>
                  <a:ext uri="{0D108BD9-81ED-4DB2-BD59-A6C34878D82A}">
                    <a16:rowId xmlns:a16="http://schemas.microsoft.com/office/drawing/2014/main" val="4238587637"/>
                  </a:ext>
                </a:extLst>
              </a:tr>
              <a:tr h="432984">
                <a:tc>
                  <a:txBody>
                    <a:bodyPr/>
                    <a:lstStyle/>
                    <a:p>
                      <a:pPr>
                        <a:buNone/>
                      </a:pPr>
                      <a:r>
                        <a:rPr lang="en-IN"/>
                        <a:t>API</a:t>
                      </a:r>
                    </a:p>
                  </a:txBody>
                  <a:tcPr anchor="ctr"/>
                </a:tc>
                <a:tc>
                  <a:txBody>
                    <a:bodyPr/>
                    <a:lstStyle/>
                    <a:p>
                      <a:pPr>
                        <a:buNone/>
                      </a:pPr>
                      <a:r>
                        <a:rPr lang="en-IN"/>
                        <a:t>FastAPI + Uvicorn</a:t>
                      </a:r>
                    </a:p>
                  </a:txBody>
                  <a:tcPr anchor="ctr"/>
                </a:tc>
                <a:extLst>
                  <a:ext uri="{0D108BD9-81ED-4DB2-BD59-A6C34878D82A}">
                    <a16:rowId xmlns:a16="http://schemas.microsoft.com/office/drawing/2014/main" val="3422019471"/>
                  </a:ext>
                </a:extLst>
              </a:tr>
              <a:tr h="432984">
                <a:tc>
                  <a:txBody>
                    <a:bodyPr/>
                    <a:lstStyle/>
                    <a:p>
                      <a:pPr>
                        <a:buNone/>
                      </a:pPr>
                      <a:r>
                        <a:rPr lang="en-IN"/>
                        <a:t>Version Control</a:t>
                      </a:r>
                    </a:p>
                  </a:txBody>
                  <a:tcPr anchor="ctr"/>
                </a:tc>
                <a:tc>
                  <a:txBody>
                    <a:bodyPr/>
                    <a:lstStyle/>
                    <a:p>
                      <a:pPr>
                        <a:buNone/>
                      </a:pPr>
                      <a:r>
                        <a:rPr lang="en-IN"/>
                        <a:t>Git + GitHub</a:t>
                      </a:r>
                    </a:p>
                  </a:txBody>
                  <a:tcPr anchor="ctr"/>
                </a:tc>
                <a:extLst>
                  <a:ext uri="{0D108BD9-81ED-4DB2-BD59-A6C34878D82A}">
                    <a16:rowId xmlns:a16="http://schemas.microsoft.com/office/drawing/2014/main" val="1282255708"/>
                  </a:ext>
                </a:extLst>
              </a:tr>
              <a:tr h="432984">
                <a:tc>
                  <a:txBody>
                    <a:bodyPr/>
                    <a:lstStyle/>
                    <a:p>
                      <a:pPr>
                        <a:buNone/>
                      </a:pPr>
                      <a:r>
                        <a:rPr lang="en-IN"/>
                        <a:t>Hardware</a:t>
                      </a:r>
                    </a:p>
                  </a:txBody>
                  <a:tcPr anchor="ctr"/>
                </a:tc>
                <a:tc>
                  <a:txBody>
                    <a:bodyPr/>
                    <a:lstStyle/>
                    <a:p>
                      <a:pPr>
                        <a:buNone/>
                      </a:pPr>
                      <a:r>
                        <a:rPr lang="en-IN" dirty="0"/>
                        <a:t>Local CPU environment</a:t>
                      </a:r>
                    </a:p>
                  </a:txBody>
                  <a:tcPr anchor="ctr"/>
                </a:tc>
                <a:extLst>
                  <a:ext uri="{0D108BD9-81ED-4DB2-BD59-A6C34878D82A}">
                    <a16:rowId xmlns:a16="http://schemas.microsoft.com/office/drawing/2014/main" val="3849683416"/>
                  </a:ext>
                </a:extLst>
              </a:tr>
            </a:tbl>
          </a:graphicData>
        </a:graphic>
      </p:graphicFrame>
      <p:sp>
        <p:nvSpPr>
          <p:cNvPr id="2" name="TextBox 1">
            <a:extLst>
              <a:ext uri="{FF2B5EF4-FFF2-40B4-BE49-F238E27FC236}">
                <a16:creationId xmlns:a16="http://schemas.microsoft.com/office/drawing/2014/main" id="{0F1ED3C8-0435-7856-D9AD-2B2ADFCD3DDE}"/>
              </a:ext>
            </a:extLst>
          </p:cNvPr>
          <p:cNvSpPr txBox="1"/>
          <p:nvPr/>
        </p:nvSpPr>
        <p:spPr>
          <a:xfrm>
            <a:off x="838200" y="1265918"/>
            <a:ext cx="10401426" cy="646331"/>
          </a:xfrm>
          <a:prstGeom prst="rect">
            <a:avLst/>
          </a:prstGeom>
          <a:noFill/>
        </p:spPr>
        <p:txBody>
          <a:bodyPr wrap="square" rtlCol="0">
            <a:spAutoFit/>
          </a:bodyPr>
          <a:lstStyle/>
          <a:p>
            <a:r>
              <a:rPr lang="en-IN" b="1" u="sng" dirty="0"/>
              <a:t>Novelty</a:t>
            </a:r>
            <a:r>
              <a:rPr lang="en-IN" dirty="0"/>
              <a:t>: The implementation combines DenseNet-121 chest X-ray classification with Grad-CAM explainability and a </a:t>
            </a:r>
            <a:r>
              <a:rPr lang="en-IN" dirty="0" err="1"/>
              <a:t>FastAPI</a:t>
            </a:r>
            <a:r>
              <a:rPr lang="en-IN" dirty="0"/>
              <a:t> interface in a single working prototype.</a:t>
            </a:r>
          </a:p>
        </p:txBody>
      </p:sp>
    </p:spTree>
    <p:extLst>
      <p:ext uri="{BB962C8B-B14F-4D97-AF65-F5344CB8AC3E}">
        <p14:creationId xmlns:p14="http://schemas.microsoft.com/office/powerpoint/2010/main" val="683929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3224D-FFFF-58A7-7841-8E740B310CA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ED8AE9C-865A-0844-B727-5DC6BA230AA4}"/>
              </a:ext>
            </a:extLst>
          </p:cNvPr>
          <p:cNvSpPr>
            <a:spLocks noGrp="1"/>
          </p:cNvSpPr>
          <p:nvPr>
            <p:ph type="body" idx="1"/>
          </p:nvPr>
        </p:nvSpPr>
        <p:spPr>
          <a:xfrm>
            <a:off x="1335024" y="1251223"/>
            <a:ext cx="3719088" cy="5170432"/>
          </a:xfrm>
        </p:spPr>
        <p:txBody>
          <a:bodyPr>
            <a:normAutofit fontScale="70000" lnSpcReduction="20000"/>
          </a:bodyPr>
          <a:lstStyle/>
          <a:p>
            <a:r>
              <a:rPr lang="en-IN" dirty="0">
                <a:solidFill>
                  <a:schemeClr val="tx1"/>
                </a:solidFill>
              </a:rPr>
              <a:t>Chest X-ray Dataset</a:t>
            </a:r>
          </a:p>
          <a:p>
            <a:r>
              <a:rPr lang="en-IN" dirty="0">
                <a:solidFill>
                  <a:schemeClr val="tx1"/>
                </a:solidFill>
              </a:rPr>
              <a:t>        ↓</a:t>
            </a:r>
          </a:p>
          <a:p>
            <a:r>
              <a:rPr lang="en-IN" dirty="0">
                <a:solidFill>
                  <a:schemeClr val="tx1"/>
                </a:solidFill>
              </a:rPr>
              <a:t>Data Preprocessing</a:t>
            </a:r>
          </a:p>
          <a:p>
            <a:r>
              <a:rPr lang="en-IN" dirty="0">
                <a:solidFill>
                  <a:schemeClr val="tx1"/>
                </a:solidFill>
              </a:rPr>
              <a:t>        ↓</a:t>
            </a:r>
          </a:p>
          <a:p>
            <a:r>
              <a:rPr lang="en-IN" dirty="0">
                <a:solidFill>
                  <a:schemeClr val="tx1"/>
                </a:solidFill>
              </a:rPr>
              <a:t>Train / Validation Split</a:t>
            </a:r>
          </a:p>
          <a:p>
            <a:r>
              <a:rPr lang="en-IN" dirty="0">
                <a:solidFill>
                  <a:schemeClr val="tx1"/>
                </a:solidFill>
              </a:rPr>
              <a:t>        ↓</a:t>
            </a:r>
          </a:p>
          <a:p>
            <a:r>
              <a:rPr lang="en-IN" dirty="0">
                <a:solidFill>
                  <a:schemeClr val="tx1"/>
                </a:solidFill>
              </a:rPr>
              <a:t>DenseNet-121 Transfer Learning</a:t>
            </a:r>
          </a:p>
          <a:p>
            <a:r>
              <a:rPr lang="en-IN" dirty="0">
                <a:solidFill>
                  <a:schemeClr val="tx1"/>
                </a:solidFill>
              </a:rPr>
              <a:t>        ↓</a:t>
            </a:r>
          </a:p>
          <a:p>
            <a:r>
              <a:rPr lang="en-IN" dirty="0">
                <a:solidFill>
                  <a:schemeClr val="tx1"/>
                </a:solidFill>
              </a:rPr>
              <a:t>Binary Classification</a:t>
            </a:r>
          </a:p>
          <a:p>
            <a:r>
              <a:rPr lang="en-IN" dirty="0">
                <a:solidFill>
                  <a:schemeClr val="tx1"/>
                </a:solidFill>
              </a:rPr>
              <a:t>Normal / Pneumonia</a:t>
            </a:r>
          </a:p>
          <a:p>
            <a:r>
              <a:rPr lang="en-IN" dirty="0">
                <a:solidFill>
                  <a:schemeClr val="tx1"/>
                </a:solidFill>
              </a:rPr>
              <a:t>        ↓</a:t>
            </a:r>
          </a:p>
          <a:p>
            <a:r>
              <a:rPr lang="en-IN" dirty="0">
                <a:solidFill>
                  <a:schemeClr val="tx1"/>
                </a:solidFill>
              </a:rPr>
              <a:t>Performance Evaluation</a:t>
            </a:r>
          </a:p>
          <a:p>
            <a:r>
              <a:rPr lang="en-IN" dirty="0">
                <a:solidFill>
                  <a:schemeClr val="tx1"/>
                </a:solidFill>
              </a:rPr>
              <a:t>        ↓</a:t>
            </a:r>
          </a:p>
          <a:p>
            <a:r>
              <a:rPr lang="en-IN" dirty="0">
                <a:solidFill>
                  <a:schemeClr val="tx1"/>
                </a:solidFill>
              </a:rPr>
              <a:t>Grad-CAM Explainability</a:t>
            </a:r>
          </a:p>
          <a:p>
            <a:r>
              <a:rPr lang="en-IN" dirty="0">
                <a:solidFill>
                  <a:schemeClr val="tx1"/>
                </a:solidFill>
              </a:rPr>
              <a:t>        ↓</a:t>
            </a:r>
          </a:p>
          <a:p>
            <a:r>
              <a:rPr lang="en-IN" dirty="0" err="1">
                <a:solidFill>
                  <a:schemeClr val="tx1"/>
                </a:solidFill>
              </a:rPr>
              <a:t>FastAPI</a:t>
            </a:r>
            <a:r>
              <a:rPr lang="en-IN" dirty="0">
                <a:solidFill>
                  <a:schemeClr val="tx1"/>
                </a:solidFill>
              </a:rPr>
              <a:t> Web Prototype</a:t>
            </a:r>
          </a:p>
        </p:txBody>
      </p:sp>
      <p:sp>
        <p:nvSpPr>
          <p:cNvPr id="4" name="Rounded Rectangle 17">
            <a:extLst>
              <a:ext uri="{FF2B5EF4-FFF2-40B4-BE49-F238E27FC236}">
                <a16:creationId xmlns:a16="http://schemas.microsoft.com/office/drawing/2014/main" id="{B0E2BF81-4DAE-A908-9199-29B71B54E8F4}"/>
              </a:ext>
            </a:extLst>
          </p:cNvPr>
          <p:cNvSpPr/>
          <p:nvPr/>
        </p:nvSpPr>
        <p:spPr>
          <a:xfrm>
            <a:off x="3026136" y="21818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Methodology</a:t>
            </a:r>
            <a:endParaRPr lang="en-US" sz="2400" b="1" dirty="0">
              <a:solidFill>
                <a:schemeClr val="bg1"/>
              </a:solidFill>
            </a:endParaRPr>
          </a:p>
        </p:txBody>
      </p:sp>
      <p:sp>
        <p:nvSpPr>
          <p:cNvPr id="2" name="TextBox 1">
            <a:extLst>
              <a:ext uri="{FF2B5EF4-FFF2-40B4-BE49-F238E27FC236}">
                <a16:creationId xmlns:a16="http://schemas.microsoft.com/office/drawing/2014/main" id="{FF892FB3-0B71-604E-85BB-3A84C7742FC3}"/>
              </a:ext>
            </a:extLst>
          </p:cNvPr>
          <p:cNvSpPr txBox="1"/>
          <p:nvPr/>
        </p:nvSpPr>
        <p:spPr>
          <a:xfrm>
            <a:off x="7137890" y="2962656"/>
            <a:ext cx="2935419" cy="1200329"/>
          </a:xfrm>
          <a:prstGeom prst="rect">
            <a:avLst/>
          </a:prstGeom>
          <a:noFill/>
        </p:spPr>
        <p:txBody>
          <a:bodyPr wrap="none" rtlCol="0">
            <a:spAutoFit/>
          </a:bodyPr>
          <a:lstStyle/>
          <a:p>
            <a:r>
              <a:rPr lang="en-IN" dirty="0"/>
              <a:t>Training images: 5,216</a:t>
            </a:r>
            <a:br>
              <a:rPr lang="en-IN" dirty="0"/>
            </a:br>
            <a:r>
              <a:rPr lang="en-IN" dirty="0"/>
              <a:t>Test images: 624</a:t>
            </a:r>
            <a:br>
              <a:rPr lang="en-IN" dirty="0"/>
            </a:br>
            <a:r>
              <a:rPr lang="en-IN" dirty="0"/>
              <a:t>Input size: 224 × 224</a:t>
            </a:r>
            <a:br>
              <a:rPr lang="en-IN" dirty="0"/>
            </a:br>
            <a:r>
              <a:rPr lang="en-IN" dirty="0"/>
              <a:t>Classes: Normal / Pneumonia</a:t>
            </a:r>
          </a:p>
        </p:txBody>
      </p:sp>
    </p:spTree>
    <p:extLst>
      <p:ext uri="{BB962C8B-B14F-4D97-AF65-F5344CB8AC3E}">
        <p14:creationId xmlns:p14="http://schemas.microsoft.com/office/powerpoint/2010/main" val="2054725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671CA-8D5E-3F5D-2C2B-A935D080368C}"/>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id="{0370A898-7946-9913-D235-3C2D43AC91BC}"/>
              </a:ext>
            </a:extLst>
          </p:cNvPr>
          <p:cNvSpPr/>
          <p:nvPr/>
        </p:nvSpPr>
        <p:spPr>
          <a:xfrm>
            <a:off x="3026135" y="149355"/>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Proposed System Architecture</a:t>
            </a:r>
            <a:endParaRPr lang="en-US" sz="2400" b="1" dirty="0">
              <a:solidFill>
                <a:schemeClr val="bg1"/>
              </a:solidFill>
            </a:endParaRPr>
          </a:p>
        </p:txBody>
      </p:sp>
      <p:pic>
        <p:nvPicPr>
          <p:cNvPr id="6" name="Picture 5">
            <a:extLst>
              <a:ext uri="{FF2B5EF4-FFF2-40B4-BE49-F238E27FC236}">
                <a16:creationId xmlns:a16="http://schemas.microsoft.com/office/drawing/2014/main" id="{28DCDE9A-30AD-04CF-5255-C184A032695D}"/>
              </a:ext>
            </a:extLst>
          </p:cNvPr>
          <p:cNvPicPr>
            <a:picLocks noChangeAspect="1"/>
          </p:cNvPicPr>
          <p:nvPr/>
        </p:nvPicPr>
        <p:blipFill>
          <a:blip r:embed="rId2"/>
          <a:srcRect l="1641" t="1454" r="1365" b="793"/>
          <a:stretch>
            <a:fillRect/>
          </a:stretch>
        </p:blipFill>
        <p:spPr>
          <a:xfrm>
            <a:off x="3340767" y="877529"/>
            <a:ext cx="6157194" cy="5102942"/>
          </a:xfrm>
          <a:prstGeom prst="rect">
            <a:avLst/>
          </a:prstGeom>
        </p:spPr>
      </p:pic>
    </p:spTree>
    <p:extLst>
      <p:ext uri="{BB962C8B-B14F-4D97-AF65-F5344CB8AC3E}">
        <p14:creationId xmlns:p14="http://schemas.microsoft.com/office/powerpoint/2010/main" val="4114544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11,400+ Thank You On Red Stock Photos, Pictures &amp; Royalty-Free Images -  iStock">
            <a:extLst>
              <a:ext uri="{FF2B5EF4-FFF2-40B4-BE49-F238E27FC236}">
                <a16:creationId xmlns:a16="http://schemas.microsoft.com/office/drawing/2014/main" id="{078798B7-AD48-485A-9438-5C9181D990E8}"/>
              </a:ext>
            </a:extLst>
          </p:cNvPr>
          <p:cNvPicPr>
            <a:picLocks noChangeAspect="1"/>
          </p:cNvPicPr>
          <p:nvPr/>
        </p:nvPicPr>
        <p:blipFill>
          <a:blip r:embed="rId2"/>
          <a:stretch>
            <a:fillRect/>
          </a:stretch>
        </p:blipFill>
        <p:spPr>
          <a:xfrm>
            <a:off x="3411794" y="1585451"/>
            <a:ext cx="5594554" cy="3687097"/>
          </a:xfrm>
          <a:prstGeom prst="rect">
            <a:avLst/>
          </a:prstGeom>
        </p:spPr>
      </p:pic>
    </p:spTree>
    <p:extLst>
      <p:ext uri="{BB962C8B-B14F-4D97-AF65-F5344CB8AC3E}">
        <p14:creationId xmlns:p14="http://schemas.microsoft.com/office/powerpoint/2010/main" val="3488524852"/>
      </p:ext>
    </p:extLst>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TOC EVAL PLAN</Template>
  <TotalTime>105087</TotalTime>
  <Words>862</Words>
  <Application>Microsoft Office PowerPoint</Application>
  <PresentationFormat>Widescreen</PresentationFormat>
  <Paragraphs>137</Paragraphs>
  <Slides>11</Slides>
  <Notes>2</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11</vt:i4>
      </vt:variant>
    </vt:vector>
  </HeadingPairs>
  <TitlesOfParts>
    <vt:vector size="21" baseType="lpstr">
      <vt:lpstr>Arial</vt:lpstr>
      <vt:lpstr>BioRhyme ExtraBold</vt:lpstr>
      <vt:lpstr>Calibri</vt:lpstr>
      <vt:lpstr>Calibri Light</vt:lpstr>
      <vt:lpstr>Poppins</vt:lpstr>
      <vt:lpstr>Times New Roman</vt:lpstr>
      <vt:lpstr>2_Custom Design</vt:lpstr>
      <vt:lpstr>1_Custom Design</vt:lpstr>
      <vt:lpstr>Custom Design</vt:lpstr>
      <vt:lpstr>Office Theme</vt:lpstr>
      <vt:lpstr>COURSE NAME:  Applied Machine Learning In Text Analysis COURSE CODE: 24ALT3101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Rajashekar Mungimalla</dc:creator>
  <cp:lastModifiedBy>M Thanvitha</cp:lastModifiedBy>
  <cp:revision>111</cp:revision>
  <dcterms:created xsi:type="dcterms:W3CDTF">2024-06-24T07:50:59Z</dcterms:created>
  <dcterms:modified xsi:type="dcterms:W3CDTF">2026-09-24T05:37:42Z</dcterms:modified>
</cp:coreProperties>
</file>