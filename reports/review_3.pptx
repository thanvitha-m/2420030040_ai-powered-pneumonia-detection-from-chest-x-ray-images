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Lst>
  <p:notesMasterIdLst>
    <p:notesMasterId r:id="rId26"/>
  </p:notesMasterIdLst>
  <p:handoutMasterIdLst>
    <p:handoutMasterId r:id="rId27"/>
  </p:handoutMasterIdLst>
  <p:sldIdLst>
    <p:sldId id="256" r:id="rId5"/>
    <p:sldId id="263" r:id="rId6"/>
    <p:sldId id="265" r:id="rId7"/>
    <p:sldId id="266" r:id="rId8"/>
    <p:sldId id="267" r:id="rId9"/>
    <p:sldId id="396" r:id="rId10"/>
    <p:sldId id="398" r:id="rId11"/>
    <p:sldId id="399" r:id="rId12"/>
    <p:sldId id="322" r:id="rId13"/>
    <p:sldId id="401" r:id="rId14"/>
    <p:sldId id="402" r:id="rId15"/>
    <p:sldId id="403" r:id="rId16"/>
    <p:sldId id="404" r:id="rId17"/>
    <p:sldId id="405" r:id="rId18"/>
    <p:sldId id="406" r:id="rId19"/>
    <p:sldId id="407" r:id="rId20"/>
    <p:sldId id="408" r:id="rId21"/>
    <p:sldId id="409" r:id="rId22"/>
    <p:sldId id="410" r:id="rId23"/>
    <p:sldId id="411" r:id="rId24"/>
    <p:sldId id="4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FF2"/>
    <a:srgbClr val="71BB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FB6861-3B2D-4372-8E5F-D78146FA662D}" v="1" dt="2026-10-29T03:02:33.0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Thanvitha" userId="e60adfe4818120f4" providerId="LiveId" clId="{48049ECB-6A9B-4AE2-B4C7-26F2AA572E07}"/>
    <pc:docChg chg="custSel modSld">
      <pc:chgData name="M Thanvitha" userId="e60adfe4818120f4" providerId="LiveId" clId="{48049ECB-6A9B-4AE2-B4C7-26F2AA572E07}" dt="2026-10-29T03:04:43.017" v="18" actId="1076"/>
      <pc:docMkLst>
        <pc:docMk/>
      </pc:docMkLst>
      <pc:sldChg chg="addSp delSp modSp mod">
        <pc:chgData name="M Thanvitha" userId="e60adfe4818120f4" providerId="LiveId" clId="{48049ECB-6A9B-4AE2-B4C7-26F2AA572E07}" dt="2026-10-29T03:04:43.017" v="18" actId="1076"/>
        <pc:sldMkLst>
          <pc:docMk/>
          <pc:sldMk cId="0" sldId="408"/>
        </pc:sldMkLst>
        <pc:graphicFrameChg chg="add del mod">
          <ac:chgData name="M Thanvitha" userId="e60adfe4818120f4" providerId="LiveId" clId="{48049ECB-6A9B-4AE2-B4C7-26F2AA572E07}" dt="2026-10-29T03:02:36.255" v="3" actId="478"/>
          <ac:graphicFrameMkLst>
            <pc:docMk/>
            <pc:sldMk cId="0" sldId="408"/>
            <ac:graphicFrameMk id="2" creationId="{8E8DE5A7-5173-842E-E0E1-43D1C8B9F30E}"/>
          </ac:graphicFrameMkLst>
        </pc:graphicFrameChg>
        <pc:picChg chg="del">
          <ac:chgData name="M Thanvitha" userId="e60adfe4818120f4" providerId="LiveId" clId="{48049ECB-6A9B-4AE2-B4C7-26F2AA572E07}" dt="2026-10-29T03:02:30.187" v="1" actId="478"/>
          <ac:picMkLst>
            <pc:docMk/>
            <pc:sldMk cId="0" sldId="408"/>
            <ac:picMk id="3" creationId="{00000000-0000-0000-0000-000000000000}"/>
          </ac:picMkLst>
        </pc:picChg>
        <pc:picChg chg="del">
          <ac:chgData name="M Thanvitha" userId="e60adfe4818120f4" providerId="LiveId" clId="{48049ECB-6A9B-4AE2-B4C7-26F2AA572E07}" dt="2026-10-29T03:02:28.759" v="0" actId="478"/>
          <ac:picMkLst>
            <pc:docMk/>
            <pc:sldMk cId="0" sldId="408"/>
            <ac:picMk id="7" creationId="{00000000-0000-0000-0000-000000000000}"/>
          </ac:picMkLst>
        </pc:picChg>
        <pc:picChg chg="add mod">
          <ac:chgData name="M Thanvitha" userId="e60adfe4818120f4" providerId="LiveId" clId="{48049ECB-6A9B-4AE2-B4C7-26F2AA572E07}" dt="2026-10-29T03:04:33.336" v="14" actId="14100"/>
          <ac:picMkLst>
            <pc:docMk/>
            <pc:sldMk cId="0" sldId="408"/>
            <ac:picMk id="8" creationId="{50DE26B3-E06C-28B5-FFE8-B76FA6278C08}"/>
          </ac:picMkLst>
        </pc:picChg>
        <pc:picChg chg="add mod">
          <ac:chgData name="M Thanvitha" userId="e60adfe4818120f4" providerId="LiveId" clId="{48049ECB-6A9B-4AE2-B4C7-26F2AA572E07}" dt="2026-10-29T03:04:43.017" v="18" actId="1076"/>
          <ac:picMkLst>
            <pc:docMk/>
            <pc:sldMk cId="0" sldId="408"/>
            <ac:picMk id="10" creationId="{D74BA5DE-0E82-6A47-613B-AA50088BBED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51894C-48C1-41F1-A201-34DB6CBBBBE6}" type="datetimeFigureOut">
              <a:rPr lang="en-IN" smtClean="0"/>
              <a:t>29-10-2026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6C6DEB-6FF4-483C-BBA0-B325BADB0565}"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D586D-DA7F-403D-AF89-CB8CBB1EF597}"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E15E5-07B6-40CA-8D0D-6845CA1DD11C}" type="slidenum">
              <a:rPr lang="en-IN" smtClean="0"/>
              <a:t>‹#›</a:t>
            </a:fld>
            <a:endParaRPr lang="en-IN"/>
          </a:p>
        </p:txBody>
      </p:sp>
    </p:spTree>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DBD89FD-1150-4979-9614-9DD9EB69C9AA}"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DBD89FD-1150-4979-9614-9DD9EB69C9AA}"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BD89FD-1150-4979-9614-9DD9EB69C9AA}"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BD89FD-1150-4979-9614-9DD9EB69C9AA}"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BD89FD-1150-4979-9614-9DD9EB69C9AA}"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71D4DB-F3A0-4149-BE4E-F155135AE11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6E1380B-202A-4ADB-8029-48BBD470229E}"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6E1380B-202A-4ADB-8029-48BBD470229E}"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1380B-202A-4ADB-8029-48BBD470229E}"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E1380B-202A-4ADB-8029-48BBD470229E}"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E1380B-202A-4ADB-8029-48BBD470229E}"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6E0C2F-4780-48A0-B75F-48779EFC8E36}"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CF3042-9457-4066-8C5E-A728C46299CF}"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CF3042-9457-4066-8C5E-A728C46299CF}"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CF3042-9457-4066-8C5E-A728C46299CF}"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CF3042-9457-4066-8C5E-A728C46299CF}"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CF3042-9457-4066-8C5E-A728C46299CF}"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ADF97F-319F-4908-B1AB-753E26D9D849}" type="slidenum">
              <a:rPr lang="en-IN" smtClean="0"/>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5449C2-1BC0-4712-B87F-A46355E94878}"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5449C2-1BC0-4712-B87F-A46355E94878}" type="datetimeFigureOut">
              <a:rPr lang="en-IN" smtClean="0"/>
              <a:t>29-10-2026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449C2-1BC0-4712-B87F-A46355E94878}" type="datetimeFigureOut">
              <a:rPr lang="en-IN" smtClean="0"/>
              <a:t>29-10-2026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449C2-1BC0-4712-B87F-A46355E94878}" type="datetimeFigureOut">
              <a:rPr lang="en-IN" smtClean="0"/>
              <a:t>29-10-2026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5449C2-1BC0-4712-B87F-A46355E94878}" type="datetimeFigureOut">
              <a:rPr lang="en-IN" smtClean="0"/>
              <a:t>29-10-2026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29-10-2026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1380B-202A-4ADB-8029-48BBD470229E}"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E0C2F-4780-48A0-B75F-48779EFC8E3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F3042-9457-4066-8C5E-A728C46299CF}"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DF97F-319F-4908-B1AB-753E26D9D849}" type="slidenum">
              <a:rPr lang="en-IN" smtClean="0"/>
              <a:t>‹#›</a:t>
            </a:fld>
            <a:endParaRPr lang="en-IN"/>
          </a:p>
        </p:txBody>
      </p:sp>
      <p:pic>
        <p:nvPicPr>
          <p:cNvPr id="7" name="Picture 6"/>
          <p:cNvPicPr/>
          <p:nvPr userDrawn="1"/>
        </p:nvPicPr>
        <p:blipFill>
          <a:blip r:embed="rId13"/>
          <a:stretch>
            <a:fillRect/>
          </a:stretch>
        </p:blipFill>
        <p:spPr>
          <a:xfrm>
            <a:off x="0" y="0"/>
            <a:ext cx="1912373" cy="1035233"/>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29-10-2026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pic>
        <p:nvPicPr>
          <p:cNvPr id="7" name="Picture 6"/>
          <p:cNvPicPr/>
          <p:nvPr userDrawn="1"/>
        </p:nvPicPr>
        <p:blipFill>
          <a:blip r:embed="rId14"/>
          <a:stretch>
            <a:fillRect/>
          </a:stretch>
        </p:blipFill>
        <p:spPr>
          <a:xfrm>
            <a:off x="0" y="39577"/>
            <a:ext cx="1912373" cy="1035233"/>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pic>
        <p:nvPicPr>
          <p:cNvPr id="4" name="Picture 3"/>
          <p:cNvPicPr/>
          <p:nvPr/>
        </p:nvPicPr>
        <p:blipFill>
          <a:blip r:embed="rId3"/>
          <a:stretch>
            <a:fillRect/>
          </a:stretch>
        </p:blipFill>
        <p:spPr>
          <a:xfrm>
            <a:off x="0" y="0"/>
            <a:ext cx="1912373" cy="1035233"/>
          </a:xfrm>
          <a:prstGeom prst="rect">
            <a:avLst/>
          </a:prstGeom>
          <a:noFill/>
          <a:ln w="9525">
            <a:noFill/>
          </a:ln>
        </p:spPr>
      </p:pic>
      <p:sp>
        <p:nvSpPr>
          <p:cNvPr id="8" name="Text Placeholder 6"/>
          <p:cNvSpPr txBox="1"/>
          <p:nvPr/>
        </p:nvSpPr>
        <p:spPr>
          <a:xfrm>
            <a:off x="853694"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2" name="Title 1"/>
          <p:cNvSpPr>
            <a:spLocks noGrp="1"/>
          </p:cNvSpPr>
          <p:nvPr>
            <p:ph type="ctrTitle"/>
          </p:nvPr>
        </p:nvSpPr>
        <p:spPr>
          <a:xfrm>
            <a:off x="-171003" y="625197"/>
            <a:ext cx="6863788" cy="2130872"/>
          </a:xfrm>
        </p:spPr>
        <p:txBody>
          <a:bodyPr>
            <a:normAutofit/>
          </a:bodyPr>
          <a:lstStyle/>
          <a:p>
            <a:pPr marR="0" lvl="0" indent="0">
              <a:spcBef>
                <a:spcPts val="0"/>
              </a:spcBef>
              <a:spcAft>
                <a:spcPts val="0"/>
              </a:spcAft>
            </a:pPr>
            <a:r>
              <a:rPr lang="en-US" sz="3200" b="1" cap="all" dirty="0">
                <a:solidFill>
                  <a:srgbClr val="C00000"/>
                </a:solidFill>
                <a:latin typeface="+mn-lt"/>
                <a:cs typeface="Poppins" panose="00000500000000000000" pitchFamily="2" charset="0"/>
                <a:sym typeface="BioRhyme ExtraBold"/>
              </a:rPr>
              <a:t>COURSE NAME: </a:t>
            </a:r>
            <a:br>
              <a:rPr lang="en-US" sz="3200" b="1" cap="all" dirty="0">
                <a:solidFill>
                  <a:srgbClr val="C00000"/>
                </a:solidFill>
                <a:latin typeface="+mn-lt"/>
                <a:cs typeface="Poppins" panose="00000500000000000000" pitchFamily="2" charset="0"/>
                <a:sym typeface="BioRhyme ExtraBold"/>
              </a:rPr>
            </a:br>
            <a:r>
              <a:rPr lang="en-US" sz="3200" b="1" cap="all" dirty="0">
                <a:solidFill>
                  <a:srgbClr val="C00000"/>
                </a:solidFill>
                <a:latin typeface="+mn-lt"/>
                <a:cs typeface="Poppins" panose="00000500000000000000" pitchFamily="2" charset="0"/>
                <a:sym typeface="BioRhyme ExtraBold"/>
              </a:rPr>
              <a:t>Applied Machine Learning In Text Analysis</a:t>
            </a:r>
            <a:br>
              <a:rPr lang="en-US" sz="3200" b="1" cap="all" dirty="0">
                <a:solidFill>
                  <a:srgbClr val="C00000"/>
                </a:solidFill>
                <a:cs typeface="Poppins" panose="00000500000000000000" pitchFamily="2" charset="0"/>
                <a:sym typeface="BioRhyme ExtraBold"/>
              </a:rPr>
            </a:br>
            <a:r>
              <a:rPr lang="en-US" sz="3200" b="1" cap="all" dirty="0">
                <a:solidFill>
                  <a:srgbClr val="00B0F0"/>
                </a:solidFill>
                <a:latin typeface="+mn-lt"/>
                <a:cs typeface="Poppins" panose="00000500000000000000" pitchFamily="2" charset="0"/>
                <a:sym typeface="BioRhyme ExtraBold"/>
              </a:rPr>
              <a:t>COURSE CODE: 24ALT3101</a:t>
            </a:r>
            <a:endParaRPr lang="en-IN" sz="3200" dirty="0">
              <a:latin typeface="+mn-lt"/>
            </a:endParaRPr>
          </a:p>
        </p:txBody>
      </p:sp>
      <p:sp>
        <p:nvSpPr>
          <p:cNvPr id="3" name="Subtitle 2"/>
          <p:cNvSpPr>
            <a:spLocks noGrp="1"/>
          </p:cNvSpPr>
          <p:nvPr>
            <p:ph type="subTitle" idx="1"/>
          </p:nvPr>
        </p:nvSpPr>
        <p:spPr>
          <a:xfrm>
            <a:off x="164664" y="2868626"/>
            <a:ext cx="6192455" cy="3989374"/>
          </a:xfrm>
        </p:spPr>
        <p:txBody>
          <a:bodyPr>
            <a:normAutofit/>
          </a:bodyPr>
          <a:lstStyle/>
          <a:p>
            <a:pPr algn="l"/>
            <a:r>
              <a:rPr lang="en-US" sz="2800" b="1" dirty="0">
                <a:solidFill>
                  <a:srgbClr val="00B0F0"/>
                </a:solidFill>
                <a:cs typeface="Poppins" pitchFamily="2" charset="77"/>
              </a:rPr>
              <a:t>Project Title: </a:t>
            </a:r>
            <a:r>
              <a:rPr lang="en-IN" sz="2800" dirty="0"/>
              <a:t>Deep Learning Framework for Automated Pneumonia Detection Using Chest X-ray Images.</a:t>
            </a:r>
          </a:p>
          <a:p>
            <a:pPr algn="l"/>
            <a:endParaRPr lang="en-IN" sz="2800" dirty="0"/>
          </a:p>
          <a:p>
            <a:pPr algn="l"/>
            <a:r>
              <a:rPr lang="en-IN" dirty="0"/>
              <a:t>An Explainable AI-Based Approach for Accurate and Interpretable Pneumonia Diagnosis</a:t>
            </a:r>
          </a:p>
          <a:p>
            <a:pPr algn="l"/>
            <a:endParaRPr lang="en-IN" dirty="0"/>
          </a:p>
          <a:p>
            <a:pPr lvl="0">
              <a:spcBef>
                <a:spcPts val="0"/>
              </a:spcBef>
            </a:pPr>
            <a:r>
              <a:rPr lang="en-US" b="1" dirty="0">
                <a:solidFill>
                  <a:srgbClr val="FF0000"/>
                </a:solidFill>
              </a:rPr>
              <a:t>Team Members:</a:t>
            </a:r>
            <a:br>
              <a:rPr lang="en-US" b="1" dirty="0">
                <a:solidFill>
                  <a:srgbClr val="FF0000"/>
                </a:solidFill>
              </a:rPr>
            </a:br>
            <a:r>
              <a:rPr lang="en-US" dirty="0"/>
              <a:t>1. Allam </a:t>
            </a:r>
            <a:r>
              <a:rPr lang="en-US" dirty="0" err="1"/>
              <a:t>Greshmica</a:t>
            </a:r>
            <a:r>
              <a:rPr lang="en-US" dirty="0"/>
              <a:t> - 2420030017</a:t>
            </a:r>
            <a:br>
              <a:rPr lang="en-US" dirty="0"/>
            </a:br>
            <a:r>
              <a:rPr lang="en-US" dirty="0"/>
              <a:t>2. </a:t>
            </a:r>
            <a:r>
              <a:rPr lang="en-US" dirty="0" err="1"/>
              <a:t>Mikkineni</a:t>
            </a:r>
            <a:r>
              <a:rPr lang="en-US" dirty="0"/>
              <a:t> Thanvitha - 2420030040</a:t>
            </a:r>
            <a:endParaRPr lang="en-US" b="1" cap="all" dirty="0">
              <a:solidFill>
                <a:srgbClr val="C00000"/>
              </a:solidFill>
              <a:ea typeface="BioRhyme ExtraBold"/>
              <a:cs typeface="Poppins" panose="00000500000000000000" pitchFamily="2" charset="0"/>
            </a:endParaRPr>
          </a:p>
          <a:p>
            <a:endParaRPr lang="en-IN" dirty="0"/>
          </a:p>
        </p:txBody>
      </p:sp>
      <p:pic>
        <p:nvPicPr>
          <p:cNvPr id="9" name="Picture 8" descr="Viral pneumonia, lung X-ray - Stock Image - C037/2788 - Science Photo  Library"/>
          <p:cNvPicPr>
            <a:picLocks noChangeAspect="1"/>
          </p:cNvPicPr>
          <p:nvPr/>
        </p:nvPicPr>
        <p:blipFill>
          <a:blip r:embed="rId4"/>
          <a:stretch>
            <a:fillRect/>
          </a:stretch>
        </p:blipFill>
        <p:spPr>
          <a:xfrm>
            <a:off x="6458673" y="277791"/>
            <a:ext cx="5428527" cy="62850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Problem Statement</a:t>
            </a:r>
          </a:p>
        </p:txBody>
      </p:sp>
      <p:pic>
        <p:nvPicPr>
          <p:cNvPr id="5" name="Picture 4"/>
          <p:cNvPicPr/>
          <p:nvPr/>
        </p:nvPicPr>
        <p:blipFill>
          <a:blip r:embed="rId2"/>
          <a:stretch>
            <a:fillRect/>
          </a:stretch>
        </p:blipFill>
        <p:spPr>
          <a:xfrm>
            <a:off x="0" y="-7328"/>
            <a:ext cx="1912373" cy="1035233"/>
          </a:xfrm>
          <a:prstGeom prst="rect">
            <a:avLst/>
          </a:prstGeom>
          <a:noFill/>
          <a:ln w="9525">
            <a:noFill/>
          </a:ln>
        </p:spPr>
      </p:pic>
      <p:sp>
        <p:nvSpPr>
          <p:cNvPr id="11" name="TextBox 10"/>
          <p:cNvSpPr txBox="1"/>
          <p:nvPr/>
        </p:nvSpPr>
        <p:spPr>
          <a:xfrm>
            <a:off x="401548" y="1300601"/>
            <a:ext cx="11388903" cy="5262979"/>
          </a:xfrm>
          <a:prstGeom prst="rect">
            <a:avLst/>
          </a:prstGeom>
          <a:noFill/>
        </p:spPr>
        <p:txBody>
          <a:bodyPr wrap="square">
            <a:spAutoFit/>
          </a:bodyPr>
          <a:lstStyle/>
          <a:p>
            <a:r>
              <a:rPr lang="en-US" sz="2400" dirty="0"/>
              <a:t>Pneumonia is a serious infection of the lungs that can cause breathing problems and other health complications if it is not detected early. Chest X-rays are commonly used to detect pneumonia, but doctors need to examine these X-rays manually, which can take time. The diagnosis can also be affected by human error and differences in doctors’ experience. In hospitals with fewer experienced radiologists, this can be an even bigger challenge.</a:t>
            </a:r>
          </a:p>
          <a:p>
            <a:endParaRPr lang="en-US" sz="2400" dirty="0"/>
          </a:p>
          <a:p>
            <a:r>
              <a:rPr lang="en-US" sz="2400" dirty="0"/>
              <a:t>AI can help detect pneumonia from chest X-rays quickly, but some AI models only give a result such as “Pneumonia” or “Normal” without explaining why. Therefore, we need a system that can not only detect pneumonia accurately and quickly, but also show the areas of the X-ray that influenced its decision. This makes the AI prediction easier to understand and more trustworthy for doctors.</a:t>
            </a:r>
          </a:p>
          <a:p>
            <a:endParaRPr lang="en-US" sz="2400" dirty="0"/>
          </a:p>
          <a:p>
            <a:r>
              <a:rPr lang="en-IN" sz="2400" dirty="0"/>
              <a:t>Existing systems may provide a classification result without clearly showing which image regions influenced the prediction.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9" name="Picture 8"/>
          <p:cNvPicPr/>
          <p:nvPr/>
        </p:nvPicPr>
        <p:blipFill>
          <a:blip r:embed="rId3"/>
          <a:stretch>
            <a:fillRect/>
          </a:stretch>
        </p:blipFill>
        <p:spPr>
          <a:xfrm>
            <a:off x="0" y="0"/>
            <a:ext cx="1912373" cy="1035233"/>
          </a:xfrm>
          <a:prstGeom prst="rect">
            <a:avLst/>
          </a:prstGeom>
          <a:noFill/>
          <a:ln w="9525">
            <a:noFill/>
          </a:ln>
        </p:spPr>
      </p:pic>
      <p:sp>
        <p:nvSpPr>
          <p:cNvPr id="4" name="Rounded Rectangle 17"/>
          <p:cNvSpPr/>
          <p:nvPr/>
        </p:nvSpPr>
        <p:spPr>
          <a:xfrm>
            <a:off x="3026134" y="76835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Objectives</a:t>
            </a:r>
          </a:p>
        </p:txBody>
      </p:sp>
      <p:sp>
        <p:nvSpPr>
          <p:cNvPr id="12" name="TextBox 11"/>
          <p:cNvSpPr txBox="1"/>
          <p:nvPr/>
        </p:nvSpPr>
        <p:spPr>
          <a:xfrm>
            <a:off x="651659" y="2726951"/>
            <a:ext cx="11388903" cy="3046988"/>
          </a:xfrm>
          <a:prstGeom prst="rect">
            <a:avLst/>
          </a:prstGeom>
          <a:noFill/>
        </p:spPr>
        <p:txBody>
          <a:bodyPr wrap="square">
            <a:spAutoFit/>
          </a:bodyPr>
          <a:lstStyle/>
          <a:p>
            <a:pPr marL="342900" lvl="0" indent="-342900">
              <a:buFont typeface="+mj-lt"/>
              <a:buAutoNum type="arabicPeriod"/>
            </a:pPr>
            <a:r>
              <a:rPr lang="en-IN" sz="2400" dirty="0"/>
              <a:t>Develop an automated pneumonia classification system using chest X-ray images. </a:t>
            </a:r>
          </a:p>
          <a:p>
            <a:pPr marL="342900" lvl="0" indent="-342900">
              <a:buFont typeface="+mj-lt"/>
              <a:buAutoNum type="arabicPeriod"/>
            </a:pPr>
            <a:r>
              <a:rPr lang="en-IN" sz="2400" dirty="0"/>
              <a:t>Implement image preprocessing and augmentation. </a:t>
            </a:r>
          </a:p>
          <a:p>
            <a:pPr marL="342900" lvl="0" indent="-342900">
              <a:buFont typeface="+mj-lt"/>
              <a:buAutoNum type="arabicPeriod"/>
            </a:pPr>
            <a:r>
              <a:rPr lang="en-IN" sz="2400" dirty="0"/>
              <a:t>Implement DenseNet-121 transfer learning for binary classification. </a:t>
            </a:r>
          </a:p>
          <a:p>
            <a:pPr marL="342900" lvl="0" indent="-342900">
              <a:buFont typeface="+mj-lt"/>
              <a:buAutoNum type="arabicPeriod"/>
            </a:pPr>
            <a:r>
              <a:rPr lang="en-IN" sz="2400" dirty="0"/>
              <a:t>Evaluate the model using Accuracy, Precision, Recall, F1-score and ROC-AUC. </a:t>
            </a:r>
          </a:p>
          <a:p>
            <a:pPr marL="342900" lvl="0" indent="-342900">
              <a:buFont typeface="+mj-lt"/>
              <a:buAutoNum type="arabicPeriod"/>
            </a:pPr>
            <a:r>
              <a:rPr lang="en-IN" sz="2400" dirty="0"/>
              <a:t>Apply Grad-CAM to provide visual explanations of model predictions. </a:t>
            </a:r>
          </a:p>
          <a:p>
            <a:pPr marL="342900" lvl="0" indent="-342900">
              <a:buFont typeface="+mj-lt"/>
              <a:buAutoNum type="arabicPeriod"/>
            </a:pPr>
            <a:r>
              <a:rPr lang="en-IN" sz="2400" dirty="0"/>
              <a:t>Develop a local </a:t>
            </a:r>
            <a:r>
              <a:rPr lang="en-IN" sz="2400" dirty="0" err="1"/>
              <a:t>FastAPI</a:t>
            </a:r>
            <a:r>
              <a:rPr lang="en-IN" sz="2400" dirty="0"/>
              <a:t> prototype for X-ray upload and prediction. </a:t>
            </a:r>
          </a:p>
          <a:p>
            <a:pPr marL="342900" lvl="0" indent="-342900">
              <a:buFont typeface="+mj-lt"/>
              <a:buAutoNum type="arabicPeriod"/>
            </a:pPr>
            <a:r>
              <a:rPr lang="en-IN" sz="2400" dirty="0"/>
              <a:t>Extend the framework in future phases using multiple datasets, architectures and natural-language explanations.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0" y="0"/>
            <a:ext cx="1912373" cy="1035233"/>
          </a:xfrm>
          <a:prstGeom prst="rect">
            <a:avLst/>
          </a:prstGeom>
          <a:noFill/>
          <a:ln w="9525">
            <a:noFill/>
          </a:ln>
        </p:spPr>
      </p:pic>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5"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Literature Review</a:t>
            </a:r>
          </a:p>
        </p:txBody>
      </p:sp>
      <p:sp>
        <p:nvSpPr>
          <p:cNvPr id="9" name="TextBox 8"/>
          <p:cNvSpPr txBox="1"/>
          <p:nvPr/>
        </p:nvSpPr>
        <p:spPr>
          <a:xfrm>
            <a:off x="457199" y="1359595"/>
            <a:ext cx="11388903" cy="707886"/>
          </a:xfrm>
          <a:prstGeom prst="rect">
            <a:avLst/>
          </a:prstGeom>
          <a:noFill/>
        </p:spPr>
        <p:txBody>
          <a:bodyPr wrap="square">
            <a:spAutoFit/>
          </a:bodyPr>
          <a:lstStyle/>
          <a:p>
            <a:endParaRPr lang="en-US" sz="2000" dirty="0"/>
          </a:p>
          <a:p>
            <a:r>
              <a:rPr lang="en-US" sz="2000" dirty="0"/>
              <a:t>	</a:t>
            </a:r>
            <a:endParaRPr lang="en-IN" sz="2000" dirty="0"/>
          </a:p>
        </p:txBody>
      </p:sp>
      <p:graphicFrame>
        <p:nvGraphicFramePr>
          <p:cNvPr id="11" name="Table 10"/>
          <p:cNvGraphicFramePr>
            <a:graphicFrameLocks noGrp="1"/>
          </p:cNvGraphicFramePr>
          <p:nvPr/>
        </p:nvGraphicFramePr>
        <p:xfrm>
          <a:off x="345898" y="947360"/>
          <a:ext cx="11388903" cy="5766993"/>
        </p:xfrm>
        <a:graphic>
          <a:graphicData uri="http://schemas.openxmlformats.org/drawingml/2006/table">
            <a:tbl>
              <a:tblPr firstRow="1" bandRow="1">
                <a:tableStyleId>{5C22544A-7EE6-4342-B048-85BDC9FD1C3A}</a:tableStyleId>
              </a:tblPr>
              <a:tblGrid>
                <a:gridCol w="648735">
                  <a:extLst>
                    <a:ext uri="{9D8B030D-6E8A-4147-A177-3AD203B41FA5}">
                      <a16:colId xmlns:a16="http://schemas.microsoft.com/office/drawing/2014/main" val="20000"/>
                    </a:ext>
                  </a:extLst>
                </a:gridCol>
                <a:gridCol w="2940932">
                  <a:extLst>
                    <a:ext uri="{9D8B030D-6E8A-4147-A177-3AD203B41FA5}">
                      <a16:colId xmlns:a16="http://schemas.microsoft.com/office/drawing/2014/main" val="20001"/>
                    </a:ext>
                  </a:extLst>
                </a:gridCol>
                <a:gridCol w="2421944">
                  <a:extLst>
                    <a:ext uri="{9D8B030D-6E8A-4147-A177-3AD203B41FA5}">
                      <a16:colId xmlns:a16="http://schemas.microsoft.com/office/drawing/2014/main" val="20002"/>
                    </a:ext>
                  </a:extLst>
                </a:gridCol>
                <a:gridCol w="2530066">
                  <a:extLst>
                    <a:ext uri="{9D8B030D-6E8A-4147-A177-3AD203B41FA5}">
                      <a16:colId xmlns:a16="http://schemas.microsoft.com/office/drawing/2014/main" val="20003"/>
                    </a:ext>
                  </a:extLst>
                </a:gridCol>
                <a:gridCol w="2847226">
                  <a:extLst>
                    <a:ext uri="{9D8B030D-6E8A-4147-A177-3AD203B41FA5}">
                      <a16:colId xmlns:a16="http://schemas.microsoft.com/office/drawing/2014/main" val="20004"/>
                    </a:ext>
                  </a:extLst>
                </a:gridCol>
              </a:tblGrid>
              <a:tr h="540788">
                <a:tc>
                  <a:txBody>
                    <a:bodyPr/>
                    <a:lstStyle/>
                    <a:p>
                      <a:r>
                        <a:rPr lang="en-US" sz="1400" dirty="0"/>
                        <a:t>Year</a:t>
                      </a:r>
                      <a:endParaRPr lang="en-IN" sz="1400" dirty="0"/>
                    </a:p>
                  </a:txBody>
                  <a:tcPr/>
                </a:tc>
                <a:tc>
                  <a:txBody>
                    <a:bodyPr/>
                    <a:lstStyle/>
                    <a:p>
                      <a:r>
                        <a:rPr lang="en-US" sz="1400" dirty="0"/>
                        <a:t>Authors</a:t>
                      </a:r>
                      <a:endParaRPr lang="en-IN" sz="1400" dirty="0"/>
                    </a:p>
                  </a:txBody>
                  <a:tcPr/>
                </a:tc>
                <a:tc>
                  <a:txBody>
                    <a:bodyPr/>
                    <a:lstStyle/>
                    <a:p>
                      <a:r>
                        <a:rPr lang="en-US" sz="1400" dirty="0"/>
                        <a:t>Technology/Model</a:t>
                      </a:r>
                      <a:endParaRPr lang="en-IN" sz="1400" dirty="0"/>
                    </a:p>
                  </a:txBody>
                  <a:tcPr/>
                </a:tc>
                <a:tc>
                  <a:txBody>
                    <a:bodyPr/>
                    <a:lstStyle/>
                    <a:p>
                      <a:r>
                        <a:rPr lang="en-US" sz="1400" dirty="0"/>
                        <a:t>Description</a:t>
                      </a:r>
                      <a:endParaRPr lang="en-IN" sz="1400" dirty="0"/>
                    </a:p>
                  </a:txBody>
                  <a:tcPr/>
                </a:tc>
                <a:tc>
                  <a:txBody>
                    <a:bodyPr/>
                    <a:lstStyle/>
                    <a:p>
                      <a:r>
                        <a:rPr lang="en-US" sz="1400" dirty="0"/>
                        <a:t>Limitation/Gap</a:t>
                      </a:r>
                      <a:endParaRPr lang="en-IN" sz="1400" dirty="0"/>
                    </a:p>
                  </a:txBody>
                  <a:tcPr/>
                </a:tc>
                <a:extLst>
                  <a:ext uri="{0D108BD9-81ED-4DB2-BD59-A6C34878D82A}">
                    <a16:rowId xmlns:a16="http://schemas.microsoft.com/office/drawing/2014/main" val="10000"/>
                  </a:ext>
                </a:extLst>
              </a:tr>
              <a:tr h="1021793">
                <a:tc>
                  <a:txBody>
                    <a:bodyPr/>
                    <a:lstStyle/>
                    <a:p>
                      <a:r>
                        <a:rPr lang="en-IN" sz="1400" dirty="0"/>
                        <a:t>2021</a:t>
                      </a:r>
                    </a:p>
                  </a:txBody>
                  <a:tcPr/>
                </a:tc>
                <a:tc>
                  <a:txBody>
                    <a:bodyPr/>
                    <a:lstStyle/>
                    <a:p>
                      <a:r>
                        <a:rPr lang="en-IN" sz="1400" dirty="0" err="1"/>
                        <a:t>Adhiyaman</a:t>
                      </a:r>
                      <a:r>
                        <a:rPr lang="en-IN" sz="1400" dirty="0"/>
                        <a:t> Manickam, Jianmin Jiang, Yu Zhou, Abhinav Sagar, Rajkumar </a:t>
                      </a:r>
                      <a:r>
                        <a:rPr lang="en-IN" sz="1400" dirty="0" err="1"/>
                        <a:t>Soundrapandiyan</a:t>
                      </a:r>
                      <a:r>
                        <a:rPr lang="en-IN" sz="1400" dirty="0"/>
                        <a:t>, R. Dinesh Jackson Samuel</a:t>
                      </a:r>
                    </a:p>
                  </a:txBody>
                  <a:tcPr/>
                </a:tc>
                <a:tc>
                  <a:txBody>
                    <a:bodyPr/>
                    <a:lstStyle/>
                    <a:p>
                      <a:r>
                        <a:rPr lang="en-IN" sz="1400" dirty="0"/>
                        <a:t>U-Net + ResNet50 + InceptionV3 + InceptionResNetV2 + Transfer Learning</a:t>
                      </a:r>
                    </a:p>
                  </a:txBody>
                  <a:tcPr/>
                </a:tc>
                <a:tc>
                  <a:txBody>
                    <a:bodyPr/>
                    <a:lstStyle/>
                    <a:p>
                      <a:r>
                        <a:rPr lang="en-IN" sz="1400" dirty="0"/>
                        <a:t>Lung segmentation + transfer learning for pneumonia detection.</a:t>
                      </a:r>
                    </a:p>
                  </a:txBody>
                  <a:tcPr/>
                </a:tc>
                <a:tc>
                  <a:txBody>
                    <a:bodyPr/>
                    <a:lstStyle/>
                    <a:p>
                      <a:r>
                        <a:rPr lang="en-IN" sz="1400" dirty="0"/>
                        <a:t>Limited dataset; no NLP explanation or integrated system.</a:t>
                      </a:r>
                    </a:p>
                  </a:txBody>
                  <a:tcPr/>
                </a:tc>
                <a:extLst>
                  <a:ext uri="{0D108BD9-81ED-4DB2-BD59-A6C34878D82A}">
                    <a16:rowId xmlns:a16="http://schemas.microsoft.com/office/drawing/2014/main" val="10001"/>
                  </a:ext>
                </a:extLst>
              </a:tr>
              <a:tr h="638252">
                <a:tc>
                  <a:txBody>
                    <a:bodyPr/>
                    <a:lstStyle/>
                    <a:p>
                      <a:r>
                        <a:rPr lang="en-IN" sz="1400" dirty="0"/>
                        <a:t>2021</a:t>
                      </a:r>
                    </a:p>
                  </a:txBody>
                  <a:tcPr/>
                </a:tc>
                <a:tc>
                  <a:txBody>
                    <a:bodyPr/>
                    <a:lstStyle/>
                    <a:p>
                      <a:r>
                        <a:rPr lang="en-IN" sz="1400" dirty="0"/>
                        <a:t>Yan Han, </a:t>
                      </a:r>
                      <a:r>
                        <a:rPr lang="en-IN" sz="1400" dirty="0" err="1"/>
                        <a:t>Chongyan</a:t>
                      </a:r>
                      <a:r>
                        <a:rPr lang="en-IN" sz="1400" dirty="0"/>
                        <a:t> Chen, Ahmed H. Tewfik, Ying Ding, Yifan Peng</a:t>
                      </a:r>
                    </a:p>
                  </a:txBody>
                  <a:tcPr/>
                </a:tc>
                <a:tc>
                  <a:txBody>
                    <a:bodyPr/>
                    <a:lstStyle/>
                    <a:p>
                      <a:r>
                        <a:rPr lang="en-IN" sz="1400" dirty="0"/>
                        <a:t>Radiomic Features + Contrastive Learning</a:t>
                      </a:r>
                    </a:p>
                  </a:txBody>
                  <a:tcPr/>
                </a:tc>
                <a:tc>
                  <a:txBody>
                    <a:bodyPr/>
                    <a:lstStyle/>
                    <a:p>
                      <a:r>
                        <a:rPr lang="en-IN" sz="1400" dirty="0"/>
                        <a:t>Combined radiomic features and contrastive learning for CXR pneumonia detection.</a:t>
                      </a:r>
                    </a:p>
                  </a:txBody>
                  <a:tcPr/>
                </a:tc>
                <a:tc>
                  <a:txBody>
                    <a:bodyPr/>
                    <a:lstStyle/>
                    <a:p>
                      <a:r>
                        <a:rPr lang="en-IN" sz="1400" dirty="0"/>
                        <a:t>Mainly RSNA dataset; limited multi-dataset evaluation.</a:t>
                      </a:r>
                    </a:p>
                  </a:txBody>
                  <a:tcPr/>
                </a:tc>
                <a:extLst>
                  <a:ext uri="{0D108BD9-81ED-4DB2-BD59-A6C34878D82A}">
                    <a16:rowId xmlns:a16="http://schemas.microsoft.com/office/drawing/2014/main" val="10002"/>
                  </a:ext>
                </a:extLst>
              </a:tr>
              <a:tr h="638252">
                <a:tc>
                  <a:txBody>
                    <a:bodyPr/>
                    <a:lstStyle/>
                    <a:p>
                      <a:r>
                        <a:rPr lang="en-IN" sz="1400" dirty="0"/>
                        <a:t>2022</a:t>
                      </a:r>
                    </a:p>
                  </a:txBody>
                  <a:tcPr/>
                </a:tc>
                <a:tc>
                  <a:txBody>
                    <a:bodyPr/>
                    <a:lstStyle/>
                    <a:p>
                      <a:r>
                        <a:rPr lang="en-IN" sz="1400" dirty="0"/>
                        <a:t>Ahmed Salem Musallam, Ahmed Sobhy Sherif, Mohamed K. Hussein</a:t>
                      </a:r>
                    </a:p>
                  </a:txBody>
                  <a:tcPr/>
                </a:tc>
                <a:tc>
                  <a:txBody>
                    <a:bodyPr/>
                    <a:lstStyle/>
                    <a:p>
                      <a:r>
                        <a:rPr lang="en-IN" sz="1400" dirty="0" err="1"/>
                        <a:t>DeepChest</a:t>
                      </a:r>
                      <a:r>
                        <a:rPr lang="en-IN" sz="1400" dirty="0"/>
                        <a:t> / Deep CNN</a:t>
                      </a:r>
                    </a:p>
                  </a:txBody>
                  <a:tcPr/>
                </a:tc>
                <a:tc>
                  <a:txBody>
                    <a:bodyPr/>
                    <a:lstStyle/>
                    <a:p>
                      <a:r>
                        <a:rPr lang="en-IN" sz="1400" dirty="0"/>
                        <a:t>Lightweight CNN for COVID-19 and pneumonia classification.</a:t>
                      </a:r>
                    </a:p>
                  </a:txBody>
                  <a:tcPr/>
                </a:tc>
                <a:tc>
                  <a:txBody>
                    <a:bodyPr/>
                    <a:lstStyle/>
                    <a:p>
                      <a:r>
                        <a:rPr lang="en-IN" sz="1400" dirty="0"/>
                        <a:t>Limited explainability; no multi-model or LLM integration.</a:t>
                      </a:r>
                    </a:p>
                  </a:txBody>
                  <a:tcPr/>
                </a:tc>
                <a:extLst>
                  <a:ext uri="{0D108BD9-81ED-4DB2-BD59-A6C34878D82A}">
                    <a16:rowId xmlns:a16="http://schemas.microsoft.com/office/drawing/2014/main" val="10003"/>
                  </a:ext>
                </a:extLst>
              </a:tr>
              <a:tr h="1082576">
                <a:tc>
                  <a:txBody>
                    <a:bodyPr/>
                    <a:lstStyle/>
                    <a:p>
                      <a:r>
                        <a:rPr lang="en-IN" sz="1400" dirty="0"/>
                        <a:t>2023</a:t>
                      </a:r>
                    </a:p>
                  </a:txBody>
                  <a:tcPr/>
                </a:tc>
                <a:tc>
                  <a:txBody>
                    <a:bodyPr/>
                    <a:lstStyle/>
                    <a:p>
                      <a:r>
                        <a:rPr lang="en-IN" sz="1400" dirty="0"/>
                        <a:t>Chiagoziem C. </a:t>
                      </a:r>
                      <a:r>
                        <a:rPr lang="en-IN" sz="1400" dirty="0" err="1"/>
                        <a:t>Ukwuoma</a:t>
                      </a:r>
                      <a:r>
                        <a:rPr lang="en-IN" sz="1400" dirty="0"/>
                        <a:t>, </a:t>
                      </a:r>
                      <a:r>
                        <a:rPr lang="en-IN" sz="1400" dirty="0" err="1"/>
                        <a:t>Zhiguang</a:t>
                      </a:r>
                      <a:r>
                        <a:rPr lang="en-IN" sz="1400" dirty="0"/>
                        <a:t> Qin, Md Belal Bin Heyat, </a:t>
                      </a:r>
                      <a:r>
                        <a:rPr lang="en-IN" sz="1400" dirty="0" err="1"/>
                        <a:t>Faijan</a:t>
                      </a:r>
                      <a:r>
                        <a:rPr lang="en-IN" sz="1400" dirty="0"/>
                        <a:t> Akhtar, Olusola </a:t>
                      </a:r>
                      <a:r>
                        <a:rPr lang="en-IN" sz="1400" dirty="0" err="1"/>
                        <a:t>Bamisile</a:t>
                      </a:r>
                      <a:r>
                        <a:rPr lang="en-IN" sz="1400" dirty="0"/>
                        <a:t>, Abdullah Y. Muaad, Daniel Addo, </a:t>
                      </a:r>
                      <a:r>
                        <a:rPr lang="en-IN" sz="1400" dirty="0" err="1"/>
                        <a:t>Mugahed</a:t>
                      </a:r>
                      <a:r>
                        <a:rPr lang="en-IN" sz="1400" dirty="0"/>
                        <a:t> A. Al-</a:t>
                      </a:r>
                      <a:r>
                        <a:rPr lang="en-IN" sz="1400" dirty="0" err="1"/>
                        <a:t>Antari</a:t>
                      </a:r>
                      <a:endParaRPr lang="en-IN" sz="1400" dirty="0"/>
                    </a:p>
                  </a:txBody>
                  <a:tcPr/>
                </a:tc>
                <a:tc>
                  <a:txBody>
                    <a:bodyPr/>
                    <a:lstStyle/>
                    <a:p>
                      <a:r>
                        <a:rPr lang="en-IN" sz="1400" dirty="0"/>
                        <a:t>DenseNet201 + VGG16 + </a:t>
                      </a:r>
                      <a:r>
                        <a:rPr lang="en-IN" sz="1400" dirty="0" err="1"/>
                        <a:t>GoogleNet</a:t>
                      </a:r>
                      <a:r>
                        <a:rPr lang="en-IN" sz="1400" dirty="0"/>
                        <a:t> / InceptionResNetV2 + </a:t>
                      </a:r>
                      <a:r>
                        <a:rPr lang="en-IN" sz="1400" dirty="0" err="1"/>
                        <a:t>Xception</a:t>
                      </a:r>
                      <a:r>
                        <a:rPr lang="en-IN" sz="1400" dirty="0"/>
                        <a:t> + Transformer Encoder + XAI</a:t>
                      </a:r>
                    </a:p>
                  </a:txBody>
                  <a:tcPr/>
                </a:tc>
                <a:tc>
                  <a:txBody>
                    <a:bodyPr/>
                    <a:lstStyle/>
                    <a:p>
                      <a:r>
                        <a:rPr lang="en-IN" sz="1400" dirty="0"/>
                        <a:t>Hybrid CNN-Transformer framework with visual explanations.</a:t>
                      </a:r>
                    </a:p>
                  </a:txBody>
                  <a:tcPr/>
                </a:tc>
                <a:tc>
                  <a:txBody>
                    <a:bodyPr/>
                    <a:lstStyle/>
                    <a:p>
                      <a:r>
                        <a:rPr lang="en-IN" sz="1400" dirty="0"/>
                        <a:t>Mainly visual XAI; no natural-language reporting or web platform.</a:t>
                      </a:r>
                    </a:p>
                  </a:txBody>
                  <a:tcPr/>
                </a:tc>
                <a:extLst>
                  <a:ext uri="{0D108BD9-81ED-4DB2-BD59-A6C34878D82A}">
                    <a16:rowId xmlns:a16="http://schemas.microsoft.com/office/drawing/2014/main" val="10004"/>
                  </a:ext>
                </a:extLst>
              </a:tr>
              <a:tr h="914400">
                <a:tc>
                  <a:txBody>
                    <a:bodyPr/>
                    <a:lstStyle/>
                    <a:p>
                      <a:r>
                        <a:rPr lang="en-IN" sz="1400" dirty="0"/>
                        <a:t>2024</a:t>
                      </a:r>
                    </a:p>
                  </a:txBody>
                  <a:tcPr/>
                </a:tc>
                <a:tc>
                  <a:txBody>
                    <a:bodyPr/>
                    <a:lstStyle/>
                    <a:p>
                      <a:r>
                        <a:rPr lang="en-IN" sz="1400" dirty="0"/>
                        <a:t>Md </a:t>
                      </a:r>
                      <a:r>
                        <a:rPr lang="en-IN" sz="1400" dirty="0" err="1"/>
                        <a:t>Fashiar</a:t>
                      </a:r>
                      <a:r>
                        <a:rPr lang="en-IN" sz="1400" dirty="0"/>
                        <a:t> Rahman, Tzu-Liang Tseng, Michael </a:t>
                      </a:r>
                      <a:r>
                        <a:rPr lang="en-IN" sz="1400" dirty="0" err="1"/>
                        <a:t>Pokojovy</a:t>
                      </a:r>
                      <a:r>
                        <a:rPr lang="en-IN" sz="1400" dirty="0"/>
                        <a:t>, Peter McCaffrey, Eric Walser, Scott Moen, Alex Vo, Johnny C. Ho</a:t>
                      </a:r>
                    </a:p>
                  </a:txBody>
                  <a:tcPr/>
                </a:tc>
                <a:tc>
                  <a:txBody>
                    <a:bodyPr/>
                    <a:lstStyle/>
                    <a:p>
                      <a:r>
                        <a:rPr lang="en-IN" sz="1400" dirty="0"/>
                        <a:t>VGG16 + ROI Segmentation + Data Augmentation + ML-Grad-CAM</a:t>
                      </a:r>
                    </a:p>
                  </a:txBody>
                  <a:tcPr/>
                </a:tc>
                <a:tc>
                  <a:txBody>
                    <a:bodyPr/>
                    <a:lstStyle/>
                    <a:p>
                      <a:r>
                        <a:rPr lang="en-IN" sz="1400" dirty="0"/>
                        <a:t>ROI-based classification with explainable heatmaps and severity assessment.</a:t>
                      </a:r>
                    </a:p>
                  </a:txBody>
                  <a:tcPr/>
                </a:tc>
                <a:tc>
                  <a:txBody>
                    <a:bodyPr/>
                    <a:lstStyle/>
                    <a:p>
                      <a:r>
                        <a:rPr lang="en-IN" sz="1400" dirty="0"/>
                        <a:t>Heatmap-based explanation; no LLM/BERT integration.</a:t>
                      </a:r>
                    </a:p>
                  </a:txBody>
                  <a:tcPr/>
                </a:tc>
                <a:extLst>
                  <a:ext uri="{0D108BD9-81ED-4DB2-BD59-A6C34878D82A}">
                    <a16:rowId xmlns:a16="http://schemas.microsoft.com/office/drawing/2014/main" val="10005"/>
                  </a:ext>
                </a:extLst>
              </a:tr>
              <a:tr h="638252">
                <a:tc>
                  <a:txBody>
                    <a:bodyPr/>
                    <a:lstStyle/>
                    <a:p>
                      <a:r>
                        <a:rPr lang="en-IN" sz="1400" dirty="0"/>
                        <a:t>2024</a:t>
                      </a:r>
                    </a:p>
                  </a:txBody>
                  <a:tcPr/>
                </a:tc>
                <a:tc>
                  <a:txBody>
                    <a:bodyPr/>
                    <a:lstStyle/>
                    <a:p>
                      <a:r>
                        <a:rPr lang="en-IN" sz="1400" dirty="0"/>
                        <a:t>A.N. Patel et al. / T.R. </a:t>
                      </a:r>
                      <a:r>
                        <a:rPr lang="en-IN" sz="1400" dirty="0" err="1"/>
                        <a:t>Gadekallu</a:t>
                      </a:r>
                      <a:r>
                        <a:rPr lang="en-IN" sz="1400" dirty="0"/>
                        <a:t>, R. </a:t>
                      </a:r>
                      <a:r>
                        <a:rPr lang="en-IN" sz="1400" dirty="0" err="1"/>
                        <a:t>Chengoden</a:t>
                      </a:r>
                      <a:r>
                        <a:rPr lang="en-IN" sz="1400" dirty="0"/>
                        <a:t> et al.</a:t>
                      </a:r>
                    </a:p>
                  </a:txBody>
                  <a:tcPr/>
                </a:tc>
                <a:tc>
                  <a:txBody>
                    <a:bodyPr/>
                    <a:lstStyle/>
                    <a:p>
                      <a:r>
                        <a:rPr lang="en-IN" sz="1400" dirty="0"/>
                        <a:t>EfficientNet-B4 + Transfer Learning + Grad-CAM</a:t>
                      </a:r>
                    </a:p>
                  </a:txBody>
                  <a:tcPr/>
                </a:tc>
                <a:tc>
                  <a:txBody>
                    <a:bodyPr/>
                    <a:lstStyle/>
                    <a:p>
                      <a:r>
                        <a:rPr lang="en-IN" sz="1400" dirty="0"/>
                        <a:t>Transfer learning for lung disease classification with visual XAI.</a:t>
                      </a:r>
                    </a:p>
                  </a:txBody>
                  <a:tcPr/>
                </a:tc>
                <a:tc>
                  <a:txBody>
                    <a:bodyPr/>
                    <a:lstStyle/>
                    <a:p>
                      <a:r>
                        <a:rPr lang="en-IN" sz="1400" dirty="0"/>
                        <a:t>Single main architecture; lacks integrated NLP and deployment.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p:cNvSpPr txBox="1"/>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3" name="Picture 2"/>
          <p:cNvPicPr/>
          <p:nvPr/>
        </p:nvPicPr>
        <p:blipFill>
          <a:blip r:embed="rId2"/>
          <a:stretch>
            <a:fillRect/>
          </a:stretch>
        </p:blipFill>
        <p:spPr>
          <a:xfrm>
            <a:off x="0" y="0"/>
            <a:ext cx="1912373" cy="1035233"/>
          </a:xfrm>
          <a:prstGeom prst="rect">
            <a:avLst/>
          </a:prstGeom>
          <a:noFill/>
          <a:ln w="9525">
            <a:noFill/>
          </a:ln>
        </p:spPr>
      </p:pic>
      <p:sp>
        <p:nvSpPr>
          <p:cNvPr id="4" name="Rounded Rectangle 17"/>
          <p:cNvSpPr/>
          <p:nvPr/>
        </p:nvSpPr>
        <p:spPr>
          <a:xfrm>
            <a:off x="3026136" y="218181"/>
            <a:ext cx="6639951" cy="5501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b="1" dirty="0"/>
              <a:t>Research Gap Identification</a:t>
            </a:r>
          </a:p>
        </p:txBody>
      </p:sp>
      <p:graphicFrame>
        <p:nvGraphicFramePr>
          <p:cNvPr id="5" name="Table 4"/>
          <p:cNvGraphicFramePr>
            <a:graphicFrameLocks noGrp="1"/>
          </p:cNvGraphicFramePr>
          <p:nvPr/>
        </p:nvGraphicFramePr>
        <p:xfrm>
          <a:off x="268711" y="912150"/>
          <a:ext cx="11667280" cy="4842692"/>
        </p:xfrm>
        <a:graphic>
          <a:graphicData uri="http://schemas.openxmlformats.org/drawingml/2006/table">
            <a:tbl>
              <a:tblPr firstRow="1" bandRow="1">
                <a:tableStyleId>{5C22544A-7EE6-4342-B048-85BDC9FD1C3A}</a:tableStyleId>
              </a:tblPr>
              <a:tblGrid>
                <a:gridCol w="2693678">
                  <a:extLst>
                    <a:ext uri="{9D8B030D-6E8A-4147-A177-3AD203B41FA5}">
                      <a16:colId xmlns:a16="http://schemas.microsoft.com/office/drawing/2014/main" val="20000"/>
                    </a:ext>
                  </a:extLst>
                </a:gridCol>
                <a:gridCol w="4314079">
                  <a:extLst>
                    <a:ext uri="{9D8B030D-6E8A-4147-A177-3AD203B41FA5}">
                      <a16:colId xmlns:a16="http://schemas.microsoft.com/office/drawing/2014/main" val="20001"/>
                    </a:ext>
                  </a:extLst>
                </a:gridCol>
                <a:gridCol w="4659523">
                  <a:extLst>
                    <a:ext uri="{9D8B030D-6E8A-4147-A177-3AD203B41FA5}">
                      <a16:colId xmlns:a16="http://schemas.microsoft.com/office/drawing/2014/main" val="20002"/>
                    </a:ext>
                  </a:extLst>
                </a:gridCol>
              </a:tblGrid>
              <a:tr h="582348">
                <a:tc>
                  <a:txBody>
                    <a:bodyPr/>
                    <a:lstStyle/>
                    <a:p>
                      <a:pPr>
                        <a:buNone/>
                      </a:pPr>
                      <a:r>
                        <a:rPr lang="en-IN"/>
                        <a:t>Research Gap</a:t>
                      </a:r>
                    </a:p>
                  </a:txBody>
                  <a:tcPr anchor="ctr"/>
                </a:tc>
                <a:tc>
                  <a:txBody>
                    <a:bodyPr/>
                    <a:lstStyle/>
                    <a:p>
                      <a:pPr>
                        <a:buNone/>
                      </a:pPr>
                      <a:r>
                        <a:rPr lang="en-IN"/>
                        <a:t>Proposed Solution</a:t>
                      </a:r>
                    </a:p>
                  </a:txBody>
                  <a:tcPr anchor="ctr"/>
                </a:tc>
                <a:tc>
                  <a:txBody>
                    <a:bodyPr/>
                    <a:lstStyle/>
                    <a:p>
                      <a:pPr>
                        <a:buNone/>
                      </a:pPr>
                      <a:r>
                        <a:rPr lang="en-IN"/>
                        <a:t>Review-2 Status</a:t>
                      </a:r>
                    </a:p>
                  </a:txBody>
                  <a:tcPr anchor="ctr"/>
                </a:tc>
                <a:extLst>
                  <a:ext uri="{0D108BD9-81ED-4DB2-BD59-A6C34878D82A}">
                    <a16:rowId xmlns:a16="http://schemas.microsoft.com/office/drawing/2014/main" val="10000"/>
                  </a:ext>
                </a:extLst>
              </a:tr>
              <a:tr h="773912">
                <a:tc>
                  <a:txBody>
                    <a:bodyPr/>
                    <a:lstStyle/>
                    <a:p>
                      <a:pPr>
                        <a:buNone/>
                      </a:pPr>
                      <a:r>
                        <a:rPr lang="en-IN"/>
                        <a:t>Limited Generalization</a:t>
                      </a:r>
                    </a:p>
                  </a:txBody>
                  <a:tcPr anchor="ctr"/>
                </a:tc>
                <a:tc>
                  <a:txBody>
                    <a:bodyPr/>
                    <a:lstStyle/>
                    <a:p>
                      <a:pPr>
                        <a:buNone/>
                      </a:pPr>
                      <a:r>
                        <a:rPr lang="en-IN"/>
                        <a:t>Multiple CXR datasets</a:t>
                      </a:r>
                    </a:p>
                  </a:txBody>
                  <a:tcPr anchor="ctr"/>
                </a:tc>
                <a:tc>
                  <a:txBody>
                    <a:bodyPr/>
                    <a:lstStyle/>
                    <a:p>
                      <a:pPr>
                        <a:buNone/>
                      </a:pPr>
                      <a:r>
                        <a:rPr lang="en-IN"/>
                        <a:t>Future</a:t>
                      </a:r>
                    </a:p>
                  </a:txBody>
                  <a:tcPr anchor="ctr"/>
                </a:tc>
                <a:extLst>
                  <a:ext uri="{0D108BD9-81ED-4DB2-BD59-A6C34878D82A}">
                    <a16:rowId xmlns:a16="http://schemas.microsoft.com/office/drawing/2014/main" val="10001"/>
                  </a:ext>
                </a:extLst>
              </a:tr>
              <a:tr h="773912">
                <a:tc>
                  <a:txBody>
                    <a:bodyPr/>
                    <a:lstStyle/>
                    <a:p>
                      <a:pPr>
                        <a:buNone/>
                      </a:pPr>
                      <a:r>
                        <a:rPr lang="en-IN"/>
                        <a:t>Limited Model Diversity</a:t>
                      </a:r>
                    </a:p>
                  </a:txBody>
                  <a:tcPr anchor="ctr"/>
                </a:tc>
                <a:tc>
                  <a:txBody>
                    <a:bodyPr/>
                    <a:lstStyle/>
                    <a:p>
                      <a:pPr>
                        <a:buNone/>
                      </a:pPr>
                      <a:r>
                        <a:rPr lang="en-IN"/>
                        <a:t>CNN/DenseNet/EfficientNet/Transformer comparison</a:t>
                      </a:r>
                    </a:p>
                  </a:txBody>
                  <a:tcPr anchor="ctr"/>
                </a:tc>
                <a:tc>
                  <a:txBody>
                    <a:bodyPr/>
                    <a:lstStyle/>
                    <a:p>
                      <a:pPr>
                        <a:buNone/>
                      </a:pPr>
                      <a:r>
                        <a:rPr lang="en-IN"/>
                        <a:t>Future</a:t>
                      </a:r>
                    </a:p>
                  </a:txBody>
                  <a:tcPr anchor="ctr"/>
                </a:tc>
                <a:extLst>
                  <a:ext uri="{0D108BD9-81ED-4DB2-BD59-A6C34878D82A}">
                    <a16:rowId xmlns:a16="http://schemas.microsoft.com/office/drawing/2014/main" val="10002"/>
                  </a:ext>
                </a:extLst>
              </a:tr>
              <a:tr h="582348">
                <a:tc>
                  <a:txBody>
                    <a:bodyPr/>
                    <a:lstStyle/>
                    <a:p>
                      <a:pPr>
                        <a:buNone/>
                      </a:pPr>
                      <a:r>
                        <a:rPr lang="en-IN" b="1"/>
                        <a:t>Limited Explainability</a:t>
                      </a:r>
                      <a:endParaRPr lang="en-IN"/>
                    </a:p>
                  </a:txBody>
                  <a:tcPr anchor="ctr"/>
                </a:tc>
                <a:tc>
                  <a:txBody>
                    <a:bodyPr/>
                    <a:lstStyle/>
                    <a:p>
                      <a:pPr>
                        <a:buNone/>
                      </a:pPr>
                      <a:r>
                        <a:rPr lang="en-IN" b="1"/>
                        <a:t>Grad-CAM</a:t>
                      </a:r>
                      <a:endParaRPr lang="en-IN"/>
                    </a:p>
                  </a:txBody>
                  <a:tcPr anchor="ctr"/>
                </a:tc>
                <a:tc>
                  <a:txBody>
                    <a:bodyPr/>
                    <a:lstStyle/>
                    <a:p>
                      <a:pPr>
                        <a:buNone/>
                      </a:pPr>
                      <a:r>
                        <a:rPr lang="en-IN" b="1"/>
                        <a:t>Implemented</a:t>
                      </a:r>
                      <a:endParaRPr lang="en-IN"/>
                    </a:p>
                  </a:txBody>
                  <a:tcPr anchor="ctr"/>
                </a:tc>
                <a:extLst>
                  <a:ext uri="{0D108BD9-81ED-4DB2-BD59-A6C34878D82A}">
                    <a16:rowId xmlns:a16="http://schemas.microsoft.com/office/drawing/2014/main" val="10003"/>
                  </a:ext>
                </a:extLst>
              </a:tr>
              <a:tr h="773912">
                <a:tc>
                  <a:txBody>
                    <a:bodyPr/>
                    <a:lstStyle/>
                    <a:p>
                      <a:pPr>
                        <a:buNone/>
                      </a:pPr>
                      <a:r>
                        <a:rPr lang="en-IN"/>
                        <a:t>Natural-language explanation</a:t>
                      </a:r>
                    </a:p>
                  </a:txBody>
                  <a:tcPr anchor="ctr"/>
                </a:tc>
                <a:tc>
                  <a:txBody>
                    <a:bodyPr/>
                    <a:lstStyle/>
                    <a:p>
                      <a:pPr>
                        <a:buNone/>
                      </a:pPr>
                      <a:r>
                        <a:rPr lang="en-IN"/>
                        <a:t>BERT + LLM</a:t>
                      </a:r>
                    </a:p>
                  </a:txBody>
                  <a:tcPr anchor="ctr"/>
                </a:tc>
                <a:tc>
                  <a:txBody>
                    <a:bodyPr/>
                    <a:lstStyle/>
                    <a:p>
                      <a:pPr>
                        <a:buNone/>
                      </a:pPr>
                      <a:r>
                        <a:rPr lang="en-IN"/>
                        <a:t>Future</a:t>
                      </a:r>
                    </a:p>
                  </a:txBody>
                  <a:tcPr anchor="ctr"/>
                </a:tc>
                <a:extLst>
                  <a:ext uri="{0D108BD9-81ED-4DB2-BD59-A6C34878D82A}">
                    <a16:rowId xmlns:a16="http://schemas.microsoft.com/office/drawing/2014/main" val="10004"/>
                  </a:ext>
                </a:extLst>
              </a:tr>
              <a:tr h="773912">
                <a:tc>
                  <a:txBody>
                    <a:bodyPr/>
                    <a:lstStyle/>
                    <a:p>
                      <a:pPr>
                        <a:buNone/>
                      </a:pPr>
                      <a:r>
                        <a:rPr lang="en-IN"/>
                        <a:t>End-to-end system</a:t>
                      </a:r>
                    </a:p>
                  </a:txBody>
                  <a:tcPr anchor="ctr"/>
                </a:tc>
                <a:tc>
                  <a:txBody>
                    <a:bodyPr/>
                    <a:lstStyle/>
                    <a:p>
                      <a:pPr>
                        <a:buNone/>
                      </a:pPr>
                      <a:r>
                        <a:rPr lang="en-IN"/>
                        <a:t>FastAPI/web interface</a:t>
                      </a:r>
                    </a:p>
                  </a:txBody>
                  <a:tcPr anchor="ctr"/>
                </a:tc>
                <a:tc>
                  <a:txBody>
                    <a:bodyPr/>
                    <a:lstStyle/>
                    <a:p>
                      <a:pPr>
                        <a:buNone/>
                      </a:pPr>
                      <a:r>
                        <a:rPr lang="en-IN" b="1"/>
                        <a:t>Prototype implemented</a:t>
                      </a:r>
                      <a:endParaRPr lang="en-IN"/>
                    </a:p>
                  </a:txBody>
                  <a:tcPr anchor="ctr"/>
                </a:tc>
                <a:extLst>
                  <a:ext uri="{0D108BD9-81ED-4DB2-BD59-A6C34878D82A}">
                    <a16:rowId xmlns:a16="http://schemas.microsoft.com/office/drawing/2014/main" val="10005"/>
                  </a:ext>
                </a:extLst>
              </a:tr>
              <a:tr h="582348">
                <a:tc>
                  <a:txBody>
                    <a:bodyPr/>
                    <a:lstStyle/>
                    <a:p>
                      <a:pPr>
                        <a:buNone/>
                      </a:pPr>
                      <a:r>
                        <a:rPr lang="en-IN"/>
                        <a:t>Limited evaluation</a:t>
                      </a:r>
                    </a:p>
                  </a:txBody>
                  <a:tcPr anchor="ctr"/>
                </a:tc>
                <a:tc>
                  <a:txBody>
                    <a:bodyPr/>
                    <a:lstStyle/>
                    <a:p>
                      <a:pPr>
                        <a:buNone/>
                      </a:pPr>
                      <a:r>
                        <a:rPr lang="en-IN"/>
                        <a:t>Multiple metrics + confusion matrix</a:t>
                      </a:r>
                    </a:p>
                  </a:txBody>
                  <a:tcPr anchor="ctr"/>
                </a:tc>
                <a:tc>
                  <a:txBody>
                    <a:bodyPr/>
                    <a:lstStyle/>
                    <a:p>
                      <a:pPr>
                        <a:buNone/>
                      </a:pPr>
                      <a:r>
                        <a:rPr lang="en-IN" b="1" dirty="0"/>
                        <a:t>Implemented</a:t>
                      </a:r>
                      <a:endParaRPr lang="en-IN" dirty="0"/>
                    </a:p>
                  </a:txBody>
                  <a:tcPr anchor="ctr"/>
                </a:tc>
                <a:extLst>
                  <a:ext uri="{0D108BD9-81ED-4DB2-BD59-A6C34878D82A}">
                    <a16:rowId xmlns:a16="http://schemas.microsoft.com/office/drawing/2014/main" val="10006"/>
                  </a:ext>
                </a:extLst>
              </a:tr>
            </a:tbl>
          </a:graphicData>
        </a:graphic>
      </p:graphicFrame>
      <p:sp>
        <p:nvSpPr>
          <p:cNvPr id="7" name="TextBox 6"/>
          <p:cNvSpPr txBox="1"/>
          <p:nvPr/>
        </p:nvSpPr>
        <p:spPr>
          <a:xfrm>
            <a:off x="268711" y="5993488"/>
            <a:ext cx="11667279" cy="369332"/>
          </a:xfrm>
          <a:prstGeom prst="rect">
            <a:avLst/>
          </a:prstGeom>
          <a:noFill/>
        </p:spPr>
        <p:txBody>
          <a:bodyPr wrap="square" rtlCol="0">
            <a:spAutoFit/>
          </a:bodyPr>
          <a:lstStyle/>
          <a:p>
            <a:r>
              <a:rPr lang="en-IN" dirty="0"/>
              <a:t>Selected research gap: Limited Explainability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64580" y="1657249"/>
            <a:ext cx="10515600" cy="4616229"/>
          </a:xfrm>
        </p:spPr>
        <p:txBody>
          <a:bodyPr>
            <a:normAutofit/>
          </a:bodyPr>
          <a:lstStyle/>
          <a:p>
            <a:pPr marL="457200" lvl="0" indent="-457200">
              <a:buFont typeface="Arial" panose="020B0604020202020204" pitchFamily="34" charset="0"/>
              <a:buChar char="•"/>
            </a:pPr>
            <a:r>
              <a:rPr lang="en-IN" dirty="0">
                <a:solidFill>
                  <a:schemeClr val="tx1"/>
                </a:solidFill>
              </a:rPr>
              <a:t>DenseNet-121 transfer learning for pneumonia classification. </a:t>
            </a:r>
          </a:p>
          <a:p>
            <a:pPr marL="457200" lvl="0" indent="-457200">
              <a:buFont typeface="Arial" panose="020B0604020202020204" pitchFamily="34" charset="0"/>
              <a:buChar char="•"/>
            </a:pPr>
            <a:r>
              <a:rPr lang="en-IN" dirty="0">
                <a:solidFill>
                  <a:schemeClr val="tx1"/>
                </a:solidFill>
              </a:rPr>
              <a:t>Grad-CAM based visual explainability. </a:t>
            </a:r>
          </a:p>
          <a:p>
            <a:pPr marL="457200" lvl="0" indent="-457200">
              <a:buFont typeface="Arial" panose="020B0604020202020204" pitchFamily="34" charset="0"/>
              <a:buChar char="•"/>
            </a:pPr>
            <a:r>
              <a:rPr lang="en-IN" dirty="0">
                <a:solidFill>
                  <a:schemeClr val="tx1"/>
                </a:solidFill>
              </a:rPr>
              <a:t>Confidence-based prediction output. </a:t>
            </a:r>
          </a:p>
          <a:p>
            <a:pPr marL="457200" lvl="0" indent="-457200">
              <a:buFont typeface="Arial" panose="020B0604020202020204" pitchFamily="34" charset="0"/>
              <a:buChar char="•"/>
            </a:pPr>
            <a:r>
              <a:rPr lang="en-IN" dirty="0">
                <a:solidFill>
                  <a:schemeClr val="tx1"/>
                </a:solidFill>
              </a:rPr>
              <a:t>Automated evaluation using multiple performance metrics. </a:t>
            </a:r>
          </a:p>
          <a:p>
            <a:pPr marL="457200" lvl="0" indent="-457200">
              <a:buFont typeface="Arial" panose="020B0604020202020204" pitchFamily="34" charset="0"/>
              <a:buChar char="•"/>
            </a:pPr>
            <a:r>
              <a:rPr lang="en-IN" dirty="0" err="1">
                <a:solidFill>
                  <a:schemeClr val="tx1"/>
                </a:solidFill>
              </a:rPr>
              <a:t>FastAPI</a:t>
            </a:r>
            <a:r>
              <a:rPr lang="en-IN" dirty="0">
                <a:solidFill>
                  <a:schemeClr val="tx1"/>
                </a:solidFill>
              </a:rPr>
              <a:t>-based local prediction interface. </a:t>
            </a:r>
          </a:p>
          <a:p>
            <a:pPr marL="457200" lvl="0" indent="-457200">
              <a:buFont typeface="Arial" panose="020B0604020202020204" pitchFamily="34" charset="0"/>
              <a:buChar char="•"/>
            </a:pPr>
            <a:r>
              <a:rPr lang="en-IN" dirty="0">
                <a:solidFill>
                  <a:schemeClr val="tx1"/>
                </a:solidFill>
              </a:rPr>
              <a:t>Modular architecture allowing future integration of additional datasets and models.</a:t>
            </a:r>
          </a:p>
        </p:txBody>
      </p:sp>
      <p:sp>
        <p:nvSpPr>
          <p:cNvPr id="6"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Innovation</a:t>
            </a:r>
            <a:endParaRPr lang="en-US" sz="24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552266"/>
            <a:ext cx="10515600" cy="4281375"/>
          </a:xfrm>
        </p:spPr>
        <p:txBody>
          <a:bodyPr>
            <a:noAutofit/>
          </a:bodyPr>
          <a:lstStyle/>
          <a:p>
            <a:pPr marL="342900" lvl="0" indent="-342900">
              <a:buFont typeface="Arial" panose="020B0604020202020204" pitchFamily="34" charset="0"/>
              <a:buChar char="•"/>
            </a:pPr>
            <a:r>
              <a:rPr lang="en-IN" dirty="0">
                <a:solidFill>
                  <a:schemeClr val="tx1"/>
                </a:solidFill>
              </a:rPr>
              <a:t>Upload → Predict → Explain workflow. </a:t>
            </a:r>
          </a:p>
          <a:p>
            <a:pPr marL="342900" lvl="0" indent="-342900">
              <a:buFont typeface="Arial" panose="020B0604020202020204" pitchFamily="34" charset="0"/>
              <a:buChar char="•"/>
            </a:pPr>
            <a:r>
              <a:rPr lang="en-IN" dirty="0">
                <a:solidFill>
                  <a:schemeClr val="tx1"/>
                </a:solidFill>
              </a:rPr>
              <a:t>Combines classification with visual explanation. </a:t>
            </a:r>
          </a:p>
          <a:p>
            <a:pPr marL="342900" lvl="0" indent="-342900">
              <a:buFont typeface="Arial" panose="020B0604020202020204" pitchFamily="34" charset="0"/>
              <a:buChar char="•"/>
            </a:pPr>
            <a:r>
              <a:rPr lang="en-IN" dirty="0">
                <a:solidFill>
                  <a:schemeClr val="tx1"/>
                </a:solidFill>
              </a:rPr>
              <a:t>Displays prediction confidence. </a:t>
            </a:r>
          </a:p>
          <a:p>
            <a:pPr marL="342900" lvl="0" indent="-342900">
              <a:buFont typeface="Arial" panose="020B0604020202020204" pitchFamily="34" charset="0"/>
              <a:buChar char="•"/>
            </a:pPr>
            <a:r>
              <a:rPr lang="en-IN" dirty="0">
                <a:solidFill>
                  <a:schemeClr val="tx1"/>
                </a:solidFill>
              </a:rPr>
              <a:t>Generates Grad-CAM visualization automatically. </a:t>
            </a:r>
          </a:p>
          <a:p>
            <a:pPr marL="342900" lvl="0" indent="-342900">
              <a:buFont typeface="Arial" panose="020B0604020202020204" pitchFamily="34" charset="0"/>
              <a:buChar char="•"/>
            </a:pPr>
            <a:r>
              <a:rPr lang="en-IN" dirty="0">
                <a:solidFill>
                  <a:schemeClr val="tx1"/>
                </a:solidFill>
              </a:rPr>
              <a:t>Integrates deep-learning inference into a simple web interface. </a:t>
            </a:r>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Creativity</a:t>
            </a:r>
            <a:endParaRPr lang="en-US" sz="2400"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242759"/>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Novelty</a:t>
            </a:r>
            <a:r>
              <a:rPr lang="en-US" sz="2400" b="1" dirty="0">
                <a:solidFill>
                  <a:schemeClr val="bg1"/>
                </a:solidFill>
              </a:rPr>
              <a:t> </a:t>
            </a:r>
            <a:r>
              <a:rPr lang="en-IN" sz="2400" dirty="0"/>
              <a:t>And Feasibility</a:t>
            </a:r>
            <a:endParaRPr lang="en-US" sz="2400" b="1" dirty="0">
              <a:solidFill>
                <a:schemeClr val="bg1"/>
              </a:solidFill>
            </a:endParaRPr>
          </a:p>
        </p:txBody>
      </p:sp>
      <p:graphicFrame>
        <p:nvGraphicFramePr>
          <p:cNvPr id="6" name="Table 5"/>
          <p:cNvGraphicFramePr>
            <a:graphicFrameLocks noGrp="1"/>
          </p:cNvGraphicFramePr>
          <p:nvPr/>
        </p:nvGraphicFramePr>
        <p:xfrm>
          <a:off x="2615238" y="1956543"/>
          <a:ext cx="7050849" cy="4683276"/>
        </p:xfrm>
        <a:graphic>
          <a:graphicData uri="http://schemas.openxmlformats.org/drawingml/2006/table">
            <a:tbl>
              <a:tblPr firstRow="1" bandRow="1">
                <a:tableStyleId>{5C22544A-7EE6-4342-B048-85BDC9FD1C3A}</a:tableStyleId>
              </a:tblPr>
              <a:tblGrid>
                <a:gridCol w="3320097">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368977">
                <a:tc>
                  <a:txBody>
                    <a:bodyPr/>
                    <a:lstStyle/>
                    <a:p>
                      <a:pPr>
                        <a:buNone/>
                      </a:pPr>
                      <a:r>
                        <a:rPr lang="en-IN"/>
                        <a:t>Aspect</a:t>
                      </a:r>
                    </a:p>
                  </a:txBody>
                  <a:tcPr anchor="ctr"/>
                </a:tc>
                <a:tc>
                  <a:txBody>
                    <a:bodyPr/>
                    <a:lstStyle/>
                    <a:p>
                      <a:pPr>
                        <a:buNone/>
                      </a:pPr>
                      <a:r>
                        <a:rPr lang="en-IN"/>
                        <a:t>Implementation</a:t>
                      </a:r>
                    </a:p>
                  </a:txBody>
                  <a:tcPr anchor="ctr"/>
                </a:tc>
                <a:extLst>
                  <a:ext uri="{0D108BD9-81ED-4DB2-BD59-A6C34878D82A}">
                    <a16:rowId xmlns:a16="http://schemas.microsoft.com/office/drawing/2014/main" val="10000"/>
                  </a:ext>
                </a:extLst>
              </a:tr>
              <a:tr h="432984">
                <a:tc>
                  <a:txBody>
                    <a:bodyPr/>
                    <a:lstStyle/>
                    <a:p>
                      <a:pPr>
                        <a:buNone/>
                      </a:pPr>
                      <a:r>
                        <a:rPr lang="en-IN"/>
                        <a:t>Development</a:t>
                      </a:r>
                    </a:p>
                  </a:txBody>
                  <a:tcPr anchor="ctr"/>
                </a:tc>
                <a:tc>
                  <a:txBody>
                    <a:bodyPr/>
                    <a:lstStyle/>
                    <a:p>
                      <a:pPr>
                        <a:buNone/>
                      </a:pPr>
                      <a:r>
                        <a:rPr lang="en-IN"/>
                        <a:t>VS Code</a:t>
                      </a:r>
                    </a:p>
                  </a:txBody>
                  <a:tcPr anchor="ctr"/>
                </a:tc>
                <a:extLst>
                  <a:ext uri="{0D108BD9-81ED-4DB2-BD59-A6C34878D82A}">
                    <a16:rowId xmlns:a16="http://schemas.microsoft.com/office/drawing/2014/main" val="10001"/>
                  </a:ext>
                </a:extLst>
              </a:tr>
              <a:tr h="432984">
                <a:tc>
                  <a:txBody>
                    <a:bodyPr/>
                    <a:lstStyle/>
                    <a:p>
                      <a:pPr>
                        <a:buNone/>
                      </a:pPr>
                      <a:r>
                        <a:rPr lang="en-IN"/>
                        <a:t>Programming</a:t>
                      </a:r>
                    </a:p>
                  </a:txBody>
                  <a:tcPr anchor="ctr"/>
                </a:tc>
                <a:tc>
                  <a:txBody>
                    <a:bodyPr/>
                    <a:lstStyle/>
                    <a:p>
                      <a:pPr>
                        <a:buNone/>
                      </a:pPr>
                      <a:r>
                        <a:rPr lang="en-IN"/>
                        <a:t>Python 3.11</a:t>
                      </a:r>
                    </a:p>
                  </a:txBody>
                  <a:tcPr anchor="ctr"/>
                </a:tc>
                <a:extLst>
                  <a:ext uri="{0D108BD9-81ED-4DB2-BD59-A6C34878D82A}">
                    <a16:rowId xmlns:a16="http://schemas.microsoft.com/office/drawing/2014/main" val="10002"/>
                  </a:ext>
                </a:extLst>
              </a:tr>
              <a:tr h="481450">
                <a:tc>
                  <a:txBody>
                    <a:bodyPr/>
                    <a:lstStyle/>
                    <a:p>
                      <a:pPr>
                        <a:buNone/>
                      </a:pPr>
                      <a:r>
                        <a:rPr lang="en-IN"/>
                        <a:t>Deep Learning</a:t>
                      </a:r>
                    </a:p>
                  </a:txBody>
                  <a:tcPr anchor="ctr"/>
                </a:tc>
                <a:tc>
                  <a:txBody>
                    <a:bodyPr/>
                    <a:lstStyle/>
                    <a:p>
                      <a:pPr>
                        <a:buNone/>
                      </a:pPr>
                      <a:r>
                        <a:rPr lang="en-IN"/>
                        <a:t>PyTorch</a:t>
                      </a:r>
                    </a:p>
                  </a:txBody>
                  <a:tcPr anchor="ctr"/>
                </a:tc>
                <a:extLst>
                  <a:ext uri="{0D108BD9-81ED-4DB2-BD59-A6C34878D82A}">
                    <a16:rowId xmlns:a16="http://schemas.microsoft.com/office/drawing/2014/main" val="10003"/>
                  </a:ext>
                </a:extLst>
              </a:tr>
              <a:tr h="368977">
                <a:tc>
                  <a:txBody>
                    <a:bodyPr/>
                    <a:lstStyle/>
                    <a:p>
                      <a:pPr>
                        <a:buNone/>
                      </a:pPr>
                      <a:r>
                        <a:rPr lang="en-IN"/>
                        <a:t>Model</a:t>
                      </a:r>
                    </a:p>
                  </a:txBody>
                  <a:tcPr anchor="ctr"/>
                </a:tc>
                <a:tc>
                  <a:txBody>
                    <a:bodyPr/>
                    <a:lstStyle/>
                    <a:p>
                      <a:pPr>
                        <a:buNone/>
                      </a:pPr>
                      <a:r>
                        <a:rPr lang="en-IN"/>
                        <a:t>DenseNet-121</a:t>
                      </a:r>
                    </a:p>
                  </a:txBody>
                  <a:tcPr anchor="ctr"/>
                </a:tc>
                <a:extLst>
                  <a:ext uri="{0D108BD9-81ED-4DB2-BD59-A6C34878D82A}">
                    <a16:rowId xmlns:a16="http://schemas.microsoft.com/office/drawing/2014/main" val="10004"/>
                  </a:ext>
                </a:extLst>
              </a:tr>
              <a:tr h="432984">
                <a:tc>
                  <a:txBody>
                    <a:bodyPr/>
                    <a:lstStyle/>
                    <a:p>
                      <a:pPr>
                        <a:buNone/>
                      </a:pPr>
                      <a:r>
                        <a:rPr lang="en-IN"/>
                        <a:t>Image Processing</a:t>
                      </a:r>
                    </a:p>
                  </a:txBody>
                  <a:tcPr anchor="ctr"/>
                </a:tc>
                <a:tc>
                  <a:txBody>
                    <a:bodyPr/>
                    <a:lstStyle/>
                    <a:p>
                      <a:pPr>
                        <a:buNone/>
                      </a:pPr>
                      <a:r>
                        <a:rPr lang="en-IN"/>
                        <a:t>Pillow / Torchvision</a:t>
                      </a:r>
                    </a:p>
                  </a:txBody>
                  <a:tcPr anchor="ctr"/>
                </a:tc>
                <a:extLst>
                  <a:ext uri="{0D108BD9-81ED-4DB2-BD59-A6C34878D82A}">
                    <a16:rowId xmlns:a16="http://schemas.microsoft.com/office/drawing/2014/main" val="10005"/>
                  </a:ext>
                </a:extLst>
              </a:tr>
              <a:tr h="432984">
                <a:tc>
                  <a:txBody>
                    <a:bodyPr/>
                    <a:lstStyle/>
                    <a:p>
                      <a:pPr>
                        <a:buNone/>
                      </a:pPr>
                      <a:r>
                        <a:rPr lang="en-IN"/>
                        <a:t>Evaluation</a:t>
                      </a:r>
                    </a:p>
                  </a:txBody>
                  <a:tcPr anchor="ctr"/>
                </a:tc>
                <a:tc>
                  <a:txBody>
                    <a:bodyPr/>
                    <a:lstStyle/>
                    <a:p>
                      <a:pPr>
                        <a:buNone/>
                      </a:pPr>
                      <a:r>
                        <a:rPr lang="en-IN"/>
                        <a:t>Scikit-learn</a:t>
                      </a:r>
                    </a:p>
                  </a:txBody>
                  <a:tcPr anchor="ctr"/>
                </a:tc>
                <a:extLst>
                  <a:ext uri="{0D108BD9-81ED-4DB2-BD59-A6C34878D82A}">
                    <a16:rowId xmlns:a16="http://schemas.microsoft.com/office/drawing/2014/main" val="10006"/>
                  </a:ext>
                </a:extLst>
              </a:tr>
              <a:tr h="432984">
                <a:tc>
                  <a:txBody>
                    <a:bodyPr/>
                    <a:lstStyle/>
                    <a:p>
                      <a:pPr>
                        <a:buNone/>
                      </a:pPr>
                      <a:r>
                        <a:rPr lang="en-IN"/>
                        <a:t>Explainability</a:t>
                      </a:r>
                    </a:p>
                  </a:txBody>
                  <a:tcPr anchor="ctr"/>
                </a:tc>
                <a:tc>
                  <a:txBody>
                    <a:bodyPr/>
                    <a:lstStyle/>
                    <a:p>
                      <a:pPr>
                        <a:buNone/>
                      </a:pPr>
                      <a:r>
                        <a:rPr lang="en-IN"/>
                        <a:t>Grad-CAM</a:t>
                      </a:r>
                    </a:p>
                  </a:txBody>
                  <a:tcPr anchor="ctr"/>
                </a:tc>
                <a:extLst>
                  <a:ext uri="{0D108BD9-81ED-4DB2-BD59-A6C34878D82A}">
                    <a16:rowId xmlns:a16="http://schemas.microsoft.com/office/drawing/2014/main" val="10007"/>
                  </a:ext>
                </a:extLst>
              </a:tr>
              <a:tr h="432984">
                <a:tc>
                  <a:txBody>
                    <a:bodyPr/>
                    <a:lstStyle/>
                    <a:p>
                      <a:pPr>
                        <a:buNone/>
                      </a:pPr>
                      <a:r>
                        <a:rPr lang="en-IN"/>
                        <a:t>API</a:t>
                      </a:r>
                    </a:p>
                  </a:txBody>
                  <a:tcPr anchor="ctr"/>
                </a:tc>
                <a:tc>
                  <a:txBody>
                    <a:bodyPr/>
                    <a:lstStyle/>
                    <a:p>
                      <a:pPr>
                        <a:buNone/>
                      </a:pPr>
                      <a:r>
                        <a:rPr lang="en-IN"/>
                        <a:t>FastAPI + Uvicorn</a:t>
                      </a:r>
                    </a:p>
                  </a:txBody>
                  <a:tcPr anchor="ctr"/>
                </a:tc>
                <a:extLst>
                  <a:ext uri="{0D108BD9-81ED-4DB2-BD59-A6C34878D82A}">
                    <a16:rowId xmlns:a16="http://schemas.microsoft.com/office/drawing/2014/main" val="10008"/>
                  </a:ext>
                </a:extLst>
              </a:tr>
              <a:tr h="432984">
                <a:tc>
                  <a:txBody>
                    <a:bodyPr/>
                    <a:lstStyle/>
                    <a:p>
                      <a:pPr>
                        <a:buNone/>
                      </a:pPr>
                      <a:r>
                        <a:rPr lang="en-IN"/>
                        <a:t>Version Control</a:t>
                      </a:r>
                    </a:p>
                  </a:txBody>
                  <a:tcPr anchor="ctr"/>
                </a:tc>
                <a:tc>
                  <a:txBody>
                    <a:bodyPr/>
                    <a:lstStyle/>
                    <a:p>
                      <a:pPr>
                        <a:buNone/>
                      </a:pPr>
                      <a:r>
                        <a:rPr lang="en-IN"/>
                        <a:t>Git + GitHub</a:t>
                      </a:r>
                    </a:p>
                  </a:txBody>
                  <a:tcPr anchor="ctr"/>
                </a:tc>
                <a:extLst>
                  <a:ext uri="{0D108BD9-81ED-4DB2-BD59-A6C34878D82A}">
                    <a16:rowId xmlns:a16="http://schemas.microsoft.com/office/drawing/2014/main" val="10009"/>
                  </a:ext>
                </a:extLst>
              </a:tr>
              <a:tr h="432984">
                <a:tc>
                  <a:txBody>
                    <a:bodyPr/>
                    <a:lstStyle/>
                    <a:p>
                      <a:pPr>
                        <a:buNone/>
                      </a:pPr>
                      <a:r>
                        <a:rPr lang="en-IN"/>
                        <a:t>Hardware</a:t>
                      </a:r>
                    </a:p>
                  </a:txBody>
                  <a:tcPr anchor="ctr"/>
                </a:tc>
                <a:tc>
                  <a:txBody>
                    <a:bodyPr/>
                    <a:lstStyle/>
                    <a:p>
                      <a:pPr>
                        <a:buNone/>
                      </a:pPr>
                      <a:r>
                        <a:rPr lang="en-IN" dirty="0"/>
                        <a:t>Local CPU environment</a:t>
                      </a:r>
                    </a:p>
                  </a:txBody>
                  <a:tcPr anchor="ctr"/>
                </a:tc>
                <a:extLst>
                  <a:ext uri="{0D108BD9-81ED-4DB2-BD59-A6C34878D82A}">
                    <a16:rowId xmlns:a16="http://schemas.microsoft.com/office/drawing/2014/main" val="10010"/>
                  </a:ext>
                </a:extLst>
              </a:tr>
            </a:tbl>
          </a:graphicData>
        </a:graphic>
      </p:graphicFrame>
      <p:sp>
        <p:nvSpPr>
          <p:cNvPr id="2" name="TextBox 1"/>
          <p:cNvSpPr txBox="1"/>
          <p:nvPr/>
        </p:nvSpPr>
        <p:spPr>
          <a:xfrm>
            <a:off x="838200" y="1265918"/>
            <a:ext cx="10401426" cy="646331"/>
          </a:xfrm>
          <a:prstGeom prst="rect">
            <a:avLst/>
          </a:prstGeom>
          <a:noFill/>
        </p:spPr>
        <p:txBody>
          <a:bodyPr wrap="square" rtlCol="0">
            <a:spAutoFit/>
          </a:bodyPr>
          <a:lstStyle/>
          <a:p>
            <a:r>
              <a:rPr lang="en-IN" b="1" u="sng" dirty="0"/>
              <a:t>Novelty</a:t>
            </a:r>
            <a:r>
              <a:rPr lang="en-IN" dirty="0"/>
              <a:t>: The implementation combines DenseNet-121 chest X-ray classification with Grad-CAM explainability and a </a:t>
            </a:r>
            <a:r>
              <a:rPr lang="en-IN" dirty="0" err="1"/>
              <a:t>FastAPI</a:t>
            </a:r>
            <a:r>
              <a:rPr lang="en-IN" dirty="0"/>
              <a:t> interface in a single working prototype.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35024" y="1251223"/>
            <a:ext cx="3719088" cy="5170432"/>
          </a:xfrm>
        </p:spPr>
        <p:txBody>
          <a:bodyPr>
            <a:normAutofit fontScale="70000" lnSpcReduction="20000"/>
          </a:bodyPr>
          <a:lstStyle/>
          <a:p>
            <a:r>
              <a:rPr lang="en-IN" dirty="0">
                <a:solidFill>
                  <a:schemeClr val="tx1"/>
                </a:solidFill>
              </a:rPr>
              <a:t>Chest X-ray Dataset</a:t>
            </a:r>
          </a:p>
          <a:p>
            <a:r>
              <a:rPr lang="en-IN" dirty="0">
                <a:solidFill>
                  <a:schemeClr val="tx1"/>
                </a:solidFill>
              </a:rPr>
              <a:t>        ↓</a:t>
            </a:r>
          </a:p>
          <a:p>
            <a:r>
              <a:rPr lang="en-IN" dirty="0">
                <a:solidFill>
                  <a:schemeClr val="tx1"/>
                </a:solidFill>
              </a:rPr>
              <a:t>Data Preprocessing</a:t>
            </a:r>
          </a:p>
          <a:p>
            <a:r>
              <a:rPr lang="en-IN" dirty="0">
                <a:solidFill>
                  <a:schemeClr val="tx1"/>
                </a:solidFill>
              </a:rPr>
              <a:t>        ↓</a:t>
            </a:r>
          </a:p>
          <a:p>
            <a:r>
              <a:rPr lang="en-IN" dirty="0">
                <a:solidFill>
                  <a:schemeClr val="tx1"/>
                </a:solidFill>
              </a:rPr>
              <a:t>Train / Validation Split</a:t>
            </a:r>
          </a:p>
          <a:p>
            <a:r>
              <a:rPr lang="en-IN" dirty="0">
                <a:solidFill>
                  <a:schemeClr val="tx1"/>
                </a:solidFill>
              </a:rPr>
              <a:t>        ↓</a:t>
            </a:r>
          </a:p>
          <a:p>
            <a:r>
              <a:rPr lang="en-IN" dirty="0">
                <a:solidFill>
                  <a:schemeClr val="tx1"/>
                </a:solidFill>
              </a:rPr>
              <a:t>DenseNet-121 Transfer Learning</a:t>
            </a:r>
          </a:p>
          <a:p>
            <a:r>
              <a:rPr lang="en-IN" dirty="0">
                <a:solidFill>
                  <a:schemeClr val="tx1"/>
                </a:solidFill>
              </a:rPr>
              <a:t>        ↓</a:t>
            </a:r>
          </a:p>
          <a:p>
            <a:r>
              <a:rPr lang="en-IN" dirty="0">
                <a:solidFill>
                  <a:schemeClr val="tx1"/>
                </a:solidFill>
              </a:rPr>
              <a:t>Binary Classification</a:t>
            </a:r>
          </a:p>
          <a:p>
            <a:r>
              <a:rPr lang="en-IN" dirty="0">
                <a:solidFill>
                  <a:schemeClr val="tx1"/>
                </a:solidFill>
              </a:rPr>
              <a:t>Normal / Pneumonia</a:t>
            </a:r>
          </a:p>
          <a:p>
            <a:r>
              <a:rPr lang="en-IN" dirty="0">
                <a:solidFill>
                  <a:schemeClr val="tx1"/>
                </a:solidFill>
              </a:rPr>
              <a:t>        ↓</a:t>
            </a:r>
          </a:p>
          <a:p>
            <a:r>
              <a:rPr lang="en-IN" dirty="0">
                <a:solidFill>
                  <a:schemeClr val="tx1"/>
                </a:solidFill>
              </a:rPr>
              <a:t>Performance Evaluation</a:t>
            </a:r>
          </a:p>
          <a:p>
            <a:r>
              <a:rPr lang="en-IN" dirty="0">
                <a:solidFill>
                  <a:schemeClr val="tx1"/>
                </a:solidFill>
              </a:rPr>
              <a:t>        ↓</a:t>
            </a:r>
          </a:p>
          <a:p>
            <a:r>
              <a:rPr lang="en-IN" dirty="0">
                <a:solidFill>
                  <a:schemeClr val="tx1"/>
                </a:solidFill>
              </a:rPr>
              <a:t>Grad-CAM Explainability</a:t>
            </a:r>
          </a:p>
          <a:p>
            <a:r>
              <a:rPr lang="en-IN" dirty="0">
                <a:solidFill>
                  <a:schemeClr val="tx1"/>
                </a:solidFill>
              </a:rPr>
              <a:t>        ↓</a:t>
            </a:r>
          </a:p>
          <a:p>
            <a:r>
              <a:rPr lang="en-IN" dirty="0" err="1">
                <a:solidFill>
                  <a:schemeClr val="tx1"/>
                </a:solidFill>
              </a:rPr>
              <a:t>FastAPI</a:t>
            </a:r>
            <a:r>
              <a:rPr lang="en-IN" dirty="0">
                <a:solidFill>
                  <a:schemeClr val="tx1"/>
                </a:solidFill>
              </a:rPr>
              <a:t> Web Prototype</a:t>
            </a:r>
          </a:p>
        </p:txBody>
      </p:sp>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Methodology</a:t>
            </a:r>
            <a:endParaRPr lang="en-US" sz="2400" b="1" dirty="0">
              <a:solidFill>
                <a:schemeClr val="bg1"/>
              </a:solidFill>
            </a:endParaRPr>
          </a:p>
        </p:txBody>
      </p:sp>
      <p:sp>
        <p:nvSpPr>
          <p:cNvPr id="2" name="TextBox 1"/>
          <p:cNvSpPr txBox="1"/>
          <p:nvPr/>
        </p:nvSpPr>
        <p:spPr>
          <a:xfrm>
            <a:off x="7137890" y="2962656"/>
            <a:ext cx="2935419" cy="1200329"/>
          </a:xfrm>
          <a:prstGeom prst="rect">
            <a:avLst/>
          </a:prstGeom>
          <a:noFill/>
        </p:spPr>
        <p:txBody>
          <a:bodyPr wrap="none" rtlCol="0">
            <a:spAutoFit/>
          </a:bodyPr>
          <a:lstStyle/>
          <a:p>
            <a:r>
              <a:rPr lang="en-IN" dirty="0"/>
              <a:t>Training images: 5,216</a:t>
            </a:r>
            <a:br>
              <a:rPr lang="en-IN" dirty="0"/>
            </a:br>
            <a:r>
              <a:rPr lang="en-IN" dirty="0"/>
              <a:t>Test images: 624</a:t>
            </a:r>
            <a:br>
              <a:rPr lang="en-IN" dirty="0"/>
            </a:br>
            <a:r>
              <a:rPr lang="en-IN" dirty="0"/>
              <a:t>Input size: 224 × 224</a:t>
            </a:r>
            <a:br>
              <a:rPr lang="en-IN" dirty="0"/>
            </a:br>
            <a:r>
              <a:rPr lang="en-IN" dirty="0"/>
              <a:t>Classes: Normal / Pneumonia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5" y="149355"/>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Proposed System Architecture</a:t>
            </a:r>
            <a:endParaRPr lang="en-US" sz="2400" b="1" dirty="0">
              <a:solidFill>
                <a:schemeClr val="bg1"/>
              </a:solidFill>
            </a:endParaRPr>
          </a:p>
        </p:txBody>
      </p:sp>
      <p:pic>
        <p:nvPicPr>
          <p:cNvPr id="6" name="Picture 5"/>
          <p:cNvPicPr>
            <a:picLocks noChangeAspect="1"/>
          </p:cNvPicPr>
          <p:nvPr/>
        </p:nvPicPr>
        <p:blipFill>
          <a:blip r:embed="rId2"/>
          <a:srcRect l="1641" t="1454" r="1365" b="793"/>
          <a:stretch>
            <a:fillRect/>
          </a:stretch>
        </p:blipFill>
        <p:spPr>
          <a:xfrm>
            <a:off x="3267513" y="1215857"/>
            <a:ext cx="6157194" cy="5102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Modern Tools &amp; Technologies</a:t>
            </a:r>
            <a:endParaRPr lang="en-US" sz="2400" b="1" dirty="0">
              <a:solidFill>
                <a:schemeClr val="bg1"/>
              </a:solidFill>
            </a:endParaRPr>
          </a:p>
        </p:txBody>
      </p:sp>
      <p:graphicFrame>
        <p:nvGraphicFramePr>
          <p:cNvPr id="3" name="Table 2"/>
          <p:cNvGraphicFramePr>
            <a:graphicFrameLocks noGrp="1"/>
          </p:cNvGraphicFramePr>
          <p:nvPr/>
        </p:nvGraphicFramePr>
        <p:xfrm>
          <a:off x="2032000" y="1478618"/>
          <a:ext cx="8128000" cy="4079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buNone/>
                      </a:pPr>
                      <a:r>
                        <a:rPr lang="en-IN" dirty="0"/>
                        <a:t>Technology</a:t>
                      </a:r>
                    </a:p>
                  </a:txBody>
                  <a:tcPr anchor="ctr"/>
                </a:tc>
                <a:tc>
                  <a:txBody>
                    <a:bodyPr/>
                    <a:lstStyle/>
                    <a:p>
                      <a:pPr>
                        <a:buNone/>
                      </a:pPr>
                      <a:r>
                        <a:rPr lang="en-IN"/>
                        <a:t>Purpose</a:t>
                      </a:r>
                    </a:p>
                  </a:txBody>
                  <a:tcPr anchor="ctr"/>
                </a:tc>
                <a:extLst>
                  <a:ext uri="{0D108BD9-81ED-4DB2-BD59-A6C34878D82A}">
                    <a16:rowId xmlns:a16="http://schemas.microsoft.com/office/drawing/2014/main" val="10000"/>
                  </a:ext>
                </a:extLst>
              </a:tr>
              <a:tr h="370840">
                <a:tc>
                  <a:txBody>
                    <a:bodyPr/>
                    <a:lstStyle/>
                    <a:p>
                      <a:pPr>
                        <a:buNone/>
                      </a:pPr>
                      <a:r>
                        <a:rPr lang="en-IN"/>
                        <a:t>Python</a:t>
                      </a:r>
                    </a:p>
                  </a:txBody>
                  <a:tcPr anchor="ctr"/>
                </a:tc>
                <a:tc>
                  <a:txBody>
                    <a:bodyPr/>
                    <a:lstStyle/>
                    <a:p>
                      <a:pPr>
                        <a:buNone/>
                      </a:pPr>
                      <a:r>
                        <a:rPr lang="en-IN"/>
                        <a:t>Programming</a:t>
                      </a:r>
                    </a:p>
                  </a:txBody>
                  <a:tcPr anchor="ctr"/>
                </a:tc>
                <a:extLst>
                  <a:ext uri="{0D108BD9-81ED-4DB2-BD59-A6C34878D82A}">
                    <a16:rowId xmlns:a16="http://schemas.microsoft.com/office/drawing/2014/main" val="10001"/>
                  </a:ext>
                </a:extLst>
              </a:tr>
              <a:tr h="370840">
                <a:tc>
                  <a:txBody>
                    <a:bodyPr/>
                    <a:lstStyle/>
                    <a:p>
                      <a:pPr>
                        <a:buNone/>
                      </a:pPr>
                      <a:r>
                        <a:rPr lang="en-IN"/>
                        <a:t>PyTorch</a:t>
                      </a:r>
                    </a:p>
                  </a:txBody>
                  <a:tcPr anchor="ctr"/>
                </a:tc>
                <a:tc>
                  <a:txBody>
                    <a:bodyPr/>
                    <a:lstStyle/>
                    <a:p>
                      <a:pPr>
                        <a:buNone/>
                      </a:pPr>
                      <a:r>
                        <a:rPr lang="en-IN"/>
                        <a:t>Deep learning</a:t>
                      </a:r>
                    </a:p>
                  </a:txBody>
                  <a:tcPr anchor="ctr"/>
                </a:tc>
                <a:extLst>
                  <a:ext uri="{0D108BD9-81ED-4DB2-BD59-A6C34878D82A}">
                    <a16:rowId xmlns:a16="http://schemas.microsoft.com/office/drawing/2014/main" val="10002"/>
                  </a:ext>
                </a:extLst>
              </a:tr>
              <a:tr h="370840">
                <a:tc>
                  <a:txBody>
                    <a:bodyPr/>
                    <a:lstStyle/>
                    <a:p>
                      <a:pPr>
                        <a:buNone/>
                      </a:pPr>
                      <a:r>
                        <a:rPr lang="en-IN"/>
                        <a:t>Torchvision</a:t>
                      </a:r>
                    </a:p>
                  </a:txBody>
                  <a:tcPr anchor="ctr"/>
                </a:tc>
                <a:tc>
                  <a:txBody>
                    <a:bodyPr/>
                    <a:lstStyle/>
                    <a:p>
                      <a:pPr>
                        <a:buNone/>
                      </a:pPr>
                      <a:r>
                        <a:rPr lang="en-IN"/>
                        <a:t>DenseNet-121 and transforms</a:t>
                      </a:r>
                    </a:p>
                  </a:txBody>
                  <a:tcPr anchor="ctr"/>
                </a:tc>
                <a:extLst>
                  <a:ext uri="{0D108BD9-81ED-4DB2-BD59-A6C34878D82A}">
                    <a16:rowId xmlns:a16="http://schemas.microsoft.com/office/drawing/2014/main" val="10003"/>
                  </a:ext>
                </a:extLst>
              </a:tr>
              <a:tr h="370840">
                <a:tc>
                  <a:txBody>
                    <a:bodyPr/>
                    <a:lstStyle/>
                    <a:p>
                      <a:pPr>
                        <a:buNone/>
                      </a:pPr>
                      <a:r>
                        <a:rPr lang="en-IN"/>
                        <a:t>Scikit-learn</a:t>
                      </a:r>
                    </a:p>
                  </a:txBody>
                  <a:tcPr anchor="ctr"/>
                </a:tc>
                <a:tc>
                  <a:txBody>
                    <a:bodyPr/>
                    <a:lstStyle/>
                    <a:p>
                      <a:pPr>
                        <a:buNone/>
                      </a:pPr>
                      <a:r>
                        <a:rPr lang="en-IN"/>
                        <a:t>Evaluation metrics</a:t>
                      </a:r>
                    </a:p>
                  </a:txBody>
                  <a:tcPr anchor="ctr"/>
                </a:tc>
                <a:extLst>
                  <a:ext uri="{0D108BD9-81ED-4DB2-BD59-A6C34878D82A}">
                    <a16:rowId xmlns:a16="http://schemas.microsoft.com/office/drawing/2014/main" val="10004"/>
                  </a:ext>
                </a:extLst>
              </a:tr>
              <a:tr h="370840">
                <a:tc>
                  <a:txBody>
                    <a:bodyPr/>
                    <a:lstStyle/>
                    <a:p>
                      <a:pPr>
                        <a:buNone/>
                      </a:pPr>
                      <a:r>
                        <a:rPr lang="en-IN"/>
                        <a:t>Pillow</a:t>
                      </a:r>
                    </a:p>
                  </a:txBody>
                  <a:tcPr anchor="ctr"/>
                </a:tc>
                <a:tc>
                  <a:txBody>
                    <a:bodyPr/>
                    <a:lstStyle/>
                    <a:p>
                      <a:pPr>
                        <a:buNone/>
                      </a:pPr>
                      <a:r>
                        <a:rPr lang="en-IN"/>
                        <a:t>Image loading</a:t>
                      </a:r>
                    </a:p>
                  </a:txBody>
                  <a:tcPr anchor="ctr"/>
                </a:tc>
                <a:extLst>
                  <a:ext uri="{0D108BD9-81ED-4DB2-BD59-A6C34878D82A}">
                    <a16:rowId xmlns:a16="http://schemas.microsoft.com/office/drawing/2014/main" val="10005"/>
                  </a:ext>
                </a:extLst>
              </a:tr>
              <a:tr h="370840">
                <a:tc>
                  <a:txBody>
                    <a:bodyPr/>
                    <a:lstStyle/>
                    <a:p>
                      <a:pPr>
                        <a:buNone/>
                      </a:pPr>
                      <a:r>
                        <a:rPr lang="en-IN"/>
                        <a:t>Grad-CAM</a:t>
                      </a:r>
                    </a:p>
                  </a:txBody>
                  <a:tcPr anchor="ctr"/>
                </a:tc>
                <a:tc>
                  <a:txBody>
                    <a:bodyPr/>
                    <a:lstStyle/>
                    <a:p>
                      <a:pPr>
                        <a:buNone/>
                      </a:pPr>
                      <a:r>
                        <a:rPr lang="en-IN"/>
                        <a:t>Explainability</a:t>
                      </a:r>
                    </a:p>
                  </a:txBody>
                  <a:tcPr anchor="ctr"/>
                </a:tc>
                <a:extLst>
                  <a:ext uri="{0D108BD9-81ED-4DB2-BD59-A6C34878D82A}">
                    <a16:rowId xmlns:a16="http://schemas.microsoft.com/office/drawing/2014/main" val="10006"/>
                  </a:ext>
                </a:extLst>
              </a:tr>
              <a:tr h="370840">
                <a:tc>
                  <a:txBody>
                    <a:bodyPr/>
                    <a:lstStyle/>
                    <a:p>
                      <a:pPr>
                        <a:buNone/>
                      </a:pPr>
                      <a:r>
                        <a:rPr lang="en-IN"/>
                        <a:t>FastAPI</a:t>
                      </a:r>
                    </a:p>
                  </a:txBody>
                  <a:tcPr anchor="ctr"/>
                </a:tc>
                <a:tc>
                  <a:txBody>
                    <a:bodyPr/>
                    <a:lstStyle/>
                    <a:p>
                      <a:pPr>
                        <a:buNone/>
                      </a:pPr>
                      <a:r>
                        <a:rPr lang="en-IN"/>
                        <a:t>Web/API backend</a:t>
                      </a:r>
                    </a:p>
                  </a:txBody>
                  <a:tcPr anchor="ctr"/>
                </a:tc>
                <a:extLst>
                  <a:ext uri="{0D108BD9-81ED-4DB2-BD59-A6C34878D82A}">
                    <a16:rowId xmlns:a16="http://schemas.microsoft.com/office/drawing/2014/main" val="10007"/>
                  </a:ext>
                </a:extLst>
              </a:tr>
              <a:tr h="370840">
                <a:tc>
                  <a:txBody>
                    <a:bodyPr/>
                    <a:lstStyle/>
                    <a:p>
                      <a:pPr>
                        <a:buNone/>
                      </a:pPr>
                      <a:r>
                        <a:rPr lang="en-IN"/>
                        <a:t>Uvicorn</a:t>
                      </a:r>
                    </a:p>
                  </a:txBody>
                  <a:tcPr anchor="ctr"/>
                </a:tc>
                <a:tc>
                  <a:txBody>
                    <a:bodyPr/>
                    <a:lstStyle/>
                    <a:p>
                      <a:pPr>
                        <a:buNone/>
                      </a:pPr>
                      <a:r>
                        <a:rPr lang="en-IN"/>
                        <a:t>Local server</a:t>
                      </a:r>
                    </a:p>
                  </a:txBody>
                  <a:tcPr anchor="ctr"/>
                </a:tc>
                <a:extLst>
                  <a:ext uri="{0D108BD9-81ED-4DB2-BD59-A6C34878D82A}">
                    <a16:rowId xmlns:a16="http://schemas.microsoft.com/office/drawing/2014/main" val="10008"/>
                  </a:ext>
                </a:extLst>
              </a:tr>
              <a:tr h="370840">
                <a:tc>
                  <a:txBody>
                    <a:bodyPr/>
                    <a:lstStyle/>
                    <a:p>
                      <a:pPr>
                        <a:buNone/>
                      </a:pPr>
                      <a:r>
                        <a:rPr lang="en-IN"/>
                        <a:t>VS Code</a:t>
                      </a:r>
                    </a:p>
                  </a:txBody>
                  <a:tcPr anchor="ctr"/>
                </a:tc>
                <a:tc>
                  <a:txBody>
                    <a:bodyPr/>
                    <a:lstStyle/>
                    <a:p>
                      <a:pPr>
                        <a:buNone/>
                      </a:pPr>
                      <a:r>
                        <a:rPr lang="en-IN"/>
                        <a:t>Development</a:t>
                      </a:r>
                    </a:p>
                  </a:txBody>
                  <a:tcPr anchor="ctr"/>
                </a:tc>
                <a:extLst>
                  <a:ext uri="{0D108BD9-81ED-4DB2-BD59-A6C34878D82A}">
                    <a16:rowId xmlns:a16="http://schemas.microsoft.com/office/drawing/2014/main" val="10009"/>
                  </a:ext>
                </a:extLst>
              </a:tr>
              <a:tr h="370840">
                <a:tc>
                  <a:txBody>
                    <a:bodyPr/>
                    <a:lstStyle/>
                    <a:p>
                      <a:pPr>
                        <a:buNone/>
                      </a:pPr>
                      <a:r>
                        <a:rPr lang="en-IN"/>
                        <a:t>Git/GitHub</a:t>
                      </a:r>
                    </a:p>
                  </a:txBody>
                  <a:tcPr anchor="ctr"/>
                </a:tc>
                <a:tc>
                  <a:txBody>
                    <a:bodyPr/>
                    <a:lstStyle/>
                    <a:p>
                      <a:pPr>
                        <a:buNone/>
                      </a:pPr>
                      <a:r>
                        <a:rPr lang="en-IN" dirty="0"/>
                        <a:t>Version control</a:t>
                      </a:r>
                    </a:p>
                  </a:txBody>
                  <a:tcPr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Implementation</a:t>
            </a:r>
            <a:endParaRPr lang="en-US" sz="2400" b="1" dirty="0">
              <a:solidFill>
                <a:schemeClr val="bg1"/>
              </a:solidFill>
            </a:endParaRPr>
          </a:p>
        </p:txBody>
      </p:sp>
      <p:sp>
        <p:nvSpPr>
          <p:cNvPr id="5" name="TextBox 4"/>
          <p:cNvSpPr txBox="1"/>
          <p:nvPr/>
        </p:nvSpPr>
        <p:spPr>
          <a:xfrm>
            <a:off x="724662" y="1405051"/>
            <a:ext cx="6094476" cy="646331"/>
          </a:xfrm>
          <a:prstGeom prst="rect">
            <a:avLst/>
          </a:prstGeom>
          <a:noFill/>
        </p:spPr>
        <p:txBody>
          <a:bodyPr wrap="square">
            <a:spAutoFit/>
          </a:bodyPr>
          <a:lstStyle/>
          <a:p>
            <a:r>
              <a:rPr lang="en-IN" dirty="0"/>
              <a:t>Implementation was performed locally in VS Code using Python and a virtual environment.</a:t>
            </a:r>
          </a:p>
        </p:txBody>
      </p:sp>
      <p:pic>
        <p:nvPicPr>
          <p:cNvPr id="3" name="Picture 2"/>
          <p:cNvPicPr>
            <a:picLocks noChangeAspect="1"/>
          </p:cNvPicPr>
          <p:nvPr/>
        </p:nvPicPr>
        <p:blipFill>
          <a:blip r:embed="rId2"/>
          <a:stretch>
            <a:fillRect/>
          </a:stretch>
        </p:blipFill>
        <p:spPr>
          <a:xfrm>
            <a:off x="3026136" y="2272415"/>
            <a:ext cx="7784592" cy="43775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a:t>Dataset &amp; Preprocessing</a:t>
            </a:r>
            <a:endParaRPr lang="en-US" sz="2400" b="1" dirty="0">
              <a:solidFill>
                <a:schemeClr val="bg1"/>
              </a:solidFill>
            </a:endParaRPr>
          </a:p>
        </p:txBody>
      </p:sp>
      <p:sp>
        <p:nvSpPr>
          <p:cNvPr id="5" name="TextBox 4"/>
          <p:cNvSpPr txBox="1"/>
          <p:nvPr/>
        </p:nvSpPr>
        <p:spPr>
          <a:xfrm>
            <a:off x="724662" y="1405051"/>
            <a:ext cx="5063490" cy="4524315"/>
          </a:xfrm>
          <a:prstGeom prst="rect">
            <a:avLst/>
          </a:prstGeom>
          <a:noFill/>
        </p:spPr>
        <p:txBody>
          <a:bodyPr wrap="square">
            <a:spAutoFit/>
          </a:bodyPr>
          <a:lstStyle/>
          <a:p>
            <a:r>
              <a:rPr lang="en-IN" sz="2400" b="1" dirty="0"/>
              <a:t>Dataset</a:t>
            </a:r>
            <a:endParaRPr lang="en-IN" sz="2400" dirty="0"/>
          </a:p>
          <a:p>
            <a:r>
              <a:rPr lang="en-IN" sz="2400" dirty="0"/>
              <a:t>Chest X-Ray Images (Pneumonia) dataset</a:t>
            </a:r>
          </a:p>
          <a:p>
            <a:pPr marL="285750" lvl="0" indent="-285750">
              <a:buFont typeface="Arial" panose="020B0604020202020204" pitchFamily="34" charset="0"/>
              <a:buChar char="•"/>
            </a:pPr>
            <a:r>
              <a:rPr lang="en-IN" sz="2400" dirty="0"/>
              <a:t>NORMAL and PNEUMONIA classes </a:t>
            </a:r>
          </a:p>
          <a:p>
            <a:pPr marL="285750" lvl="0" indent="-285750">
              <a:buFont typeface="Arial" panose="020B0604020202020204" pitchFamily="34" charset="0"/>
              <a:buChar char="•"/>
            </a:pPr>
            <a:r>
              <a:rPr lang="en-IN" sz="2400" dirty="0"/>
              <a:t>Training/validation split generated from training data </a:t>
            </a:r>
          </a:p>
          <a:p>
            <a:pPr marL="285750" lvl="0" indent="-285750">
              <a:buFont typeface="Arial" panose="020B0604020202020204" pitchFamily="34" charset="0"/>
              <a:buChar char="•"/>
            </a:pPr>
            <a:r>
              <a:rPr lang="en-IN" sz="2400" dirty="0"/>
              <a:t>Separate test set </a:t>
            </a:r>
          </a:p>
          <a:p>
            <a:pPr marL="285750" lvl="0" indent="-285750">
              <a:buFont typeface="Arial" panose="020B0604020202020204" pitchFamily="34" charset="0"/>
              <a:buChar char="•"/>
            </a:pPr>
            <a:r>
              <a:rPr lang="en-IN" sz="2400" dirty="0"/>
              <a:t>Resize: 224 × 224 </a:t>
            </a:r>
          </a:p>
          <a:p>
            <a:pPr marL="285750" lvl="0" indent="-285750">
              <a:buFont typeface="Arial" panose="020B0604020202020204" pitchFamily="34" charset="0"/>
              <a:buChar char="•"/>
            </a:pPr>
            <a:r>
              <a:rPr lang="en-IN" sz="2400" dirty="0"/>
              <a:t>Normalization </a:t>
            </a:r>
          </a:p>
          <a:p>
            <a:pPr marL="285750" lvl="0" indent="-285750">
              <a:buFont typeface="Arial" panose="020B0604020202020204" pitchFamily="34" charset="0"/>
              <a:buChar char="•"/>
            </a:pPr>
            <a:r>
              <a:rPr lang="en-IN" sz="2400" dirty="0"/>
              <a:t>Random horizontal flip </a:t>
            </a:r>
          </a:p>
          <a:p>
            <a:pPr marL="285750" lvl="0" indent="-285750">
              <a:buFont typeface="Arial" panose="020B0604020202020204" pitchFamily="34" charset="0"/>
              <a:buChar char="•"/>
            </a:pPr>
            <a:r>
              <a:rPr lang="en-IN" sz="2400" dirty="0"/>
              <a:t>Random rotation </a:t>
            </a:r>
          </a:p>
          <a:p>
            <a:pPr marL="285750" lvl="0" indent="-285750">
              <a:buFont typeface="Arial" panose="020B0604020202020204" pitchFamily="34" charset="0"/>
              <a:buChar char="•"/>
            </a:pPr>
            <a:r>
              <a:rPr lang="en-IN" sz="2400" dirty="0" err="1"/>
              <a:t>PyTorch</a:t>
            </a:r>
            <a:r>
              <a:rPr lang="en-IN" sz="2400" dirty="0"/>
              <a:t> </a:t>
            </a:r>
            <a:r>
              <a:rPr lang="en-IN" sz="2400" dirty="0" err="1"/>
              <a:t>DataLoader</a:t>
            </a:r>
            <a:endParaRPr lang="en-IN" sz="2400" dirty="0"/>
          </a:p>
        </p:txBody>
      </p:sp>
      <p:pic>
        <p:nvPicPr>
          <p:cNvPr id="3" name="Picture 2"/>
          <p:cNvPicPr>
            <a:picLocks noChangeAspect="1"/>
          </p:cNvPicPr>
          <p:nvPr/>
        </p:nvPicPr>
        <p:blipFill>
          <a:blip r:embed="rId2"/>
          <a:stretch>
            <a:fillRect/>
          </a:stretch>
        </p:blipFill>
        <p:spPr>
          <a:xfrm>
            <a:off x="5852160" y="1941083"/>
            <a:ext cx="6175247" cy="34725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Model Implementation</a:t>
            </a:r>
            <a:endParaRPr lang="en-US" sz="2400" b="1" dirty="0">
              <a:solidFill>
                <a:schemeClr val="bg1"/>
              </a:solidFill>
            </a:endParaRPr>
          </a:p>
        </p:txBody>
      </p:sp>
      <p:sp>
        <p:nvSpPr>
          <p:cNvPr id="5" name="TextBox 4"/>
          <p:cNvSpPr txBox="1"/>
          <p:nvPr/>
        </p:nvSpPr>
        <p:spPr>
          <a:xfrm>
            <a:off x="724662" y="1405051"/>
            <a:ext cx="6094476" cy="2308324"/>
          </a:xfrm>
          <a:prstGeom prst="rect">
            <a:avLst/>
          </a:prstGeom>
          <a:noFill/>
        </p:spPr>
        <p:txBody>
          <a:bodyPr wrap="square">
            <a:spAutoFit/>
          </a:bodyPr>
          <a:lstStyle/>
          <a:p>
            <a:r>
              <a:rPr lang="en-IN" dirty="0"/>
              <a:t>Pretrained DenseNet-121</a:t>
            </a:r>
          </a:p>
          <a:p>
            <a:r>
              <a:rPr lang="en-IN" dirty="0"/>
              <a:t>        ↓</a:t>
            </a:r>
          </a:p>
          <a:p>
            <a:r>
              <a:rPr lang="en-IN" dirty="0"/>
              <a:t>Frozen Feature Extractor</a:t>
            </a:r>
          </a:p>
          <a:p>
            <a:r>
              <a:rPr lang="en-IN" dirty="0"/>
              <a:t>        ↓</a:t>
            </a:r>
          </a:p>
          <a:p>
            <a:r>
              <a:rPr lang="en-IN" dirty="0"/>
              <a:t>Classification Layer</a:t>
            </a:r>
          </a:p>
          <a:p>
            <a:r>
              <a:rPr lang="en-IN" dirty="0"/>
              <a:t>        ↓</a:t>
            </a:r>
          </a:p>
          <a:p>
            <a:r>
              <a:rPr lang="en-IN" dirty="0"/>
              <a:t>2 Classes</a:t>
            </a:r>
          </a:p>
          <a:p>
            <a:r>
              <a:rPr lang="en-IN" dirty="0"/>
              <a:t>NORMAL / PNEUMONIA</a:t>
            </a:r>
          </a:p>
        </p:txBody>
      </p:sp>
      <p:pic>
        <p:nvPicPr>
          <p:cNvPr id="3" name="Picture 2"/>
          <p:cNvPicPr>
            <a:picLocks noChangeAspect="1"/>
          </p:cNvPicPr>
          <p:nvPr/>
        </p:nvPicPr>
        <p:blipFill>
          <a:blip r:embed="rId2"/>
          <a:stretch>
            <a:fillRect/>
          </a:stretch>
        </p:blipFill>
        <p:spPr>
          <a:xfrm>
            <a:off x="3419856" y="1003685"/>
            <a:ext cx="8625839" cy="48506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R</a:t>
            </a:r>
            <a:r>
              <a:rPr lang="en-IN" sz="2400" b="1" dirty="0" err="1">
                <a:solidFill>
                  <a:schemeClr val="bg1"/>
                </a:solidFill>
              </a:rPr>
              <a:t>esults</a:t>
            </a:r>
            <a:endParaRPr lang="en-US" sz="2400" b="1" dirty="0">
              <a:solidFill>
                <a:schemeClr val="bg1"/>
              </a:solidFill>
            </a:endParaRPr>
          </a:p>
        </p:txBody>
      </p:sp>
      <p:graphicFrame>
        <p:nvGraphicFramePr>
          <p:cNvPr id="2" name="Table 1"/>
          <p:cNvGraphicFramePr>
            <a:graphicFrameLocks noGrp="1"/>
          </p:cNvGraphicFramePr>
          <p:nvPr/>
        </p:nvGraphicFramePr>
        <p:xfrm>
          <a:off x="450088" y="1124188"/>
          <a:ext cx="5822696" cy="2225040"/>
        </p:xfrm>
        <a:graphic>
          <a:graphicData uri="http://schemas.openxmlformats.org/drawingml/2006/table">
            <a:tbl>
              <a:tblPr firstRow="1" bandRow="1">
                <a:tableStyleId>{5C22544A-7EE6-4342-B048-85BDC9FD1C3A}</a:tableStyleId>
              </a:tblPr>
              <a:tblGrid>
                <a:gridCol w="2911348">
                  <a:extLst>
                    <a:ext uri="{9D8B030D-6E8A-4147-A177-3AD203B41FA5}">
                      <a16:colId xmlns:a16="http://schemas.microsoft.com/office/drawing/2014/main" val="20000"/>
                    </a:ext>
                  </a:extLst>
                </a:gridCol>
                <a:gridCol w="2911348">
                  <a:extLst>
                    <a:ext uri="{9D8B030D-6E8A-4147-A177-3AD203B41FA5}">
                      <a16:colId xmlns:a16="http://schemas.microsoft.com/office/drawing/2014/main" val="20001"/>
                    </a:ext>
                  </a:extLst>
                </a:gridCol>
              </a:tblGrid>
              <a:tr h="370840">
                <a:tc>
                  <a:txBody>
                    <a:bodyPr/>
                    <a:lstStyle/>
                    <a:p>
                      <a:pPr>
                        <a:buNone/>
                      </a:pPr>
                      <a:r>
                        <a:rPr lang="en-IN"/>
                        <a:t>Metric</a:t>
                      </a:r>
                    </a:p>
                  </a:txBody>
                  <a:tcPr anchor="ctr"/>
                </a:tc>
                <a:tc>
                  <a:txBody>
                    <a:bodyPr/>
                    <a:lstStyle/>
                    <a:p>
                      <a:pPr algn="r">
                        <a:buNone/>
                      </a:pPr>
                      <a:r>
                        <a:rPr lang="en-IN"/>
                        <a:t>Result</a:t>
                      </a:r>
                    </a:p>
                  </a:txBody>
                  <a:tcPr anchor="ctr"/>
                </a:tc>
                <a:extLst>
                  <a:ext uri="{0D108BD9-81ED-4DB2-BD59-A6C34878D82A}">
                    <a16:rowId xmlns:a16="http://schemas.microsoft.com/office/drawing/2014/main" val="10000"/>
                  </a:ext>
                </a:extLst>
              </a:tr>
              <a:tr h="370840">
                <a:tc>
                  <a:txBody>
                    <a:bodyPr/>
                    <a:lstStyle/>
                    <a:p>
                      <a:pPr>
                        <a:buNone/>
                      </a:pPr>
                      <a:r>
                        <a:rPr lang="en-IN"/>
                        <a:t>Accuracy</a:t>
                      </a:r>
                    </a:p>
                  </a:txBody>
                  <a:tcPr anchor="ctr"/>
                </a:tc>
                <a:tc>
                  <a:txBody>
                    <a:bodyPr/>
                    <a:lstStyle/>
                    <a:p>
                      <a:pPr algn="r">
                        <a:buNone/>
                      </a:pPr>
                      <a:r>
                        <a:rPr lang="en-IN" b="1"/>
                        <a:t>84.13%</a:t>
                      </a:r>
                      <a:endParaRPr lang="en-IN"/>
                    </a:p>
                  </a:txBody>
                  <a:tcPr anchor="ctr"/>
                </a:tc>
                <a:extLst>
                  <a:ext uri="{0D108BD9-81ED-4DB2-BD59-A6C34878D82A}">
                    <a16:rowId xmlns:a16="http://schemas.microsoft.com/office/drawing/2014/main" val="10001"/>
                  </a:ext>
                </a:extLst>
              </a:tr>
              <a:tr h="370840">
                <a:tc>
                  <a:txBody>
                    <a:bodyPr/>
                    <a:lstStyle/>
                    <a:p>
                      <a:pPr>
                        <a:buNone/>
                      </a:pPr>
                      <a:r>
                        <a:rPr lang="en-IN" dirty="0"/>
                        <a:t>Precision</a:t>
                      </a:r>
                    </a:p>
                  </a:txBody>
                  <a:tcPr anchor="ctr"/>
                </a:tc>
                <a:tc>
                  <a:txBody>
                    <a:bodyPr/>
                    <a:lstStyle/>
                    <a:p>
                      <a:pPr algn="r">
                        <a:buNone/>
                      </a:pPr>
                      <a:r>
                        <a:rPr lang="en-IN" b="1"/>
                        <a:t>89.86%</a:t>
                      </a:r>
                      <a:endParaRPr lang="en-IN"/>
                    </a:p>
                  </a:txBody>
                  <a:tcPr anchor="ctr"/>
                </a:tc>
                <a:extLst>
                  <a:ext uri="{0D108BD9-81ED-4DB2-BD59-A6C34878D82A}">
                    <a16:rowId xmlns:a16="http://schemas.microsoft.com/office/drawing/2014/main" val="10002"/>
                  </a:ext>
                </a:extLst>
              </a:tr>
              <a:tr h="370840">
                <a:tc>
                  <a:txBody>
                    <a:bodyPr/>
                    <a:lstStyle/>
                    <a:p>
                      <a:pPr>
                        <a:buNone/>
                      </a:pPr>
                      <a:r>
                        <a:rPr lang="en-IN" dirty="0"/>
                        <a:t>Recall</a:t>
                      </a:r>
                    </a:p>
                  </a:txBody>
                  <a:tcPr anchor="ctr"/>
                </a:tc>
                <a:tc>
                  <a:txBody>
                    <a:bodyPr/>
                    <a:lstStyle/>
                    <a:p>
                      <a:pPr algn="r">
                        <a:buNone/>
                      </a:pPr>
                      <a:r>
                        <a:rPr lang="en-IN" b="1"/>
                        <a:t>84.10%</a:t>
                      </a:r>
                      <a:endParaRPr lang="en-IN"/>
                    </a:p>
                  </a:txBody>
                  <a:tcPr anchor="ctr"/>
                </a:tc>
                <a:extLst>
                  <a:ext uri="{0D108BD9-81ED-4DB2-BD59-A6C34878D82A}">
                    <a16:rowId xmlns:a16="http://schemas.microsoft.com/office/drawing/2014/main" val="10003"/>
                  </a:ext>
                </a:extLst>
              </a:tr>
              <a:tr h="370840">
                <a:tc>
                  <a:txBody>
                    <a:bodyPr/>
                    <a:lstStyle/>
                    <a:p>
                      <a:pPr>
                        <a:buNone/>
                      </a:pPr>
                      <a:r>
                        <a:rPr lang="en-IN"/>
                        <a:t>F1 Score</a:t>
                      </a:r>
                    </a:p>
                  </a:txBody>
                  <a:tcPr anchor="ctr"/>
                </a:tc>
                <a:tc>
                  <a:txBody>
                    <a:bodyPr/>
                    <a:lstStyle/>
                    <a:p>
                      <a:pPr algn="r">
                        <a:buNone/>
                      </a:pPr>
                      <a:r>
                        <a:rPr lang="en-IN" b="1"/>
                        <a:t>86.89%</a:t>
                      </a:r>
                      <a:endParaRPr lang="en-IN"/>
                    </a:p>
                  </a:txBody>
                  <a:tcPr anchor="ctr"/>
                </a:tc>
                <a:extLst>
                  <a:ext uri="{0D108BD9-81ED-4DB2-BD59-A6C34878D82A}">
                    <a16:rowId xmlns:a16="http://schemas.microsoft.com/office/drawing/2014/main" val="10004"/>
                  </a:ext>
                </a:extLst>
              </a:tr>
              <a:tr h="370840">
                <a:tc>
                  <a:txBody>
                    <a:bodyPr/>
                    <a:lstStyle/>
                    <a:p>
                      <a:pPr>
                        <a:buNone/>
                      </a:pPr>
                      <a:r>
                        <a:rPr lang="en-IN" dirty="0"/>
                        <a:t>ROC-AUC</a:t>
                      </a:r>
                    </a:p>
                  </a:txBody>
                  <a:tcPr anchor="ctr"/>
                </a:tc>
                <a:tc>
                  <a:txBody>
                    <a:bodyPr/>
                    <a:lstStyle/>
                    <a:p>
                      <a:pPr algn="r">
                        <a:buNone/>
                      </a:pPr>
                      <a:r>
                        <a:rPr lang="en-IN" b="1" dirty="0"/>
                        <a:t>91.89%</a:t>
                      </a:r>
                      <a:endParaRPr lang="en-IN" dirty="0"/>
                    </a:p>
                  </a:txBody>
                  <a:tcPr anchor="ctr"/>
                </a:tc>
                <a:extLst>
                  <a:ext uri="{0D108BD9-81ED-4DB2-BD59-A6C34878D82A}">
                    <a16:rowId xmlns:a16="http://schemas.microsoft.com/office/drawing/2014/main" val="10005"/>
                  </a:ext>
                </a:extLst>
              </a:tr>
            </a:tbl>
          </a:graphicData>
        </a:graphic>
      </p:graphicFrame>
      <p:sp>
        <p:nvSpPr>
          <p:cNvPr id="6" name="TextBox 5"/>
          <p:cNvSpPr txBox="1"/>
          <p:nvPr/>
        </p:nvSpPr>
        <p:spPr>
          <a:xfrm>
            <a:off x="450088" y="3550472"/>
            <a:ext cx="6094476" cy="369332"/>
          </a:xfrm>
          <a:prstGeom prst="rect">
            <a:avLst/>
          </a:prstGeom>
          <a:noFill/>
        </p:spPr>
        <p:txBody>
          <a:bodyPr wrap="square">
            <a:spAutoFit/>
          </a:bodyPr>
          <a:lstStyle/>
          <a:p>
            <a:r>
              <a:rPr lang="en-IN" dirty="0"/>
              <a:t>Test set: </a:t>
            </a:r>
            <a:r>
              <a:rPr lang="en-IN" b="1" dirty="0"/>
              <a:t>624 images</a:t>
            </a:r>
            <a:endParaRPr lang="en-IN" dirty="0"/>
          </a:p>
        </p:txBody>
      </p:sp>
      <p:graphicFrame>
        <p:nvGraphicFramePr>
          <p:cNvPr id="10" name="Table 9"/>
          <p:cNvGraphicFramePr>
            <a:graphicFrameLocks noGrp="1"/>
          </p:cNvGraphicFramePr>
          <p:nvPr/>
        </p:nvGraphicFramePr>
        <p:xfrm>
          <a:off x="450088" y="4250452"/>
          <a:ext cx="5731256" cy="1483360"/>
        </p:xfrm>
        <a:graphic>
          <a:graphicData uri="http://schemas.openxmlformats.org/drawingml/2006/table">
            <a:tbl>
              <a:tblPr firstRow="1" bandRow="1">
                <a:tableStyleId>{5C22544A-7EE6-4342-B048-85BDC9FD1C3A}</a:tableStyleId>
              </a:tblPr>
              <a:tblGrid>
                <a:gridCol w="1552448">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tblGrid>
              <a:tr h="370840">
                <a:tc>
                  <a:txBody>
                    <a:bodyPr/>
                    <a:lstStyle/>
                    <a:p>
                      <a:endParaRPr lang="en-IN" dirty="0"/>
                    </a:p>
                  </a:txBody>
                  <a:tcPr/>
                </a:tc>
                <a:tc gridSpan="3">
                  <a:txBody>
                    <a:bodyPr/>
                    <a:lstStyle/>
                    <a:p>
                      <a:pPr algn="ctr"/>
                      <a:r>
                        <a:rPr lang="en-US" dirty="0"/>
                        <a:t>Predicted</a:t>
                      </a:r>
                      <a:endParaRPr lang="en-IN"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40">
                <a:tc rowSpan="3">
                  <a:txBody>
                    <a:bodyPr/>
                    <a:lstStyle/>
                    <a:p>
                      <a:pPr algn="ctr"/>
                      <a:endParaRPr lang="en-US" dirty="0"/>
                    </a:p>
                    <a:p>
                      <a:pPr algn="ctr"/>
                      <a:r>
                        <a:rPr lang="en-US" dirty="0"/>
                        <a:t>Actual</a:t>
                      </a:r>
                      <a:endParaRPr lang="en-IN" dirty="0"/>
                    </a:p>
                  </a:txBody>
                  <a:tcPr/>
                </a:tc>
                <a:tc>
                  <a:txBody>
                    <a:bodyPr/>
                    <a:lstStyle/>
                    <a:p>
                      <a:endParaRPr lang="en-IN" dirty="0"/>
                    </a:p>
                  </a:txBody>
                  <a:tcPr/>
                </a:tc>
                <a:tc>
                  <a:txBody>
                    <a:bodyPr/>
                    <a:lstStyle/>
                    <a:p>
                      <a:r>
                        <a:rPr lang="en-US" dirty="0"/>
                        <a:t>Normal</a:t>
                      </a:r>
                      <a:endParaRPr lang="en-IN" dirty="0"/>
                    </a:p>
                  </a:txBody>
                  <a:tcPr/>
                </a:tc>
                <a:tc>
                  <a:txBody>
                    <a:bodyPr/>
                    <a:lstStyle/>
                    <a:p>
                      <a:r>
                        <a:rPr lang="en-IN" dirty="0"/>
                        <a:t>Pneumonia</a:t>
                      </a:r>
                    </a:p>
                  </a:txBody>
                  <a:tcPr/>
                </a:tc>
                <a:extLst>
                  <a:ext uri="{0D108BD9-81ED-4DB2-BD59-A6C34878D82A}">
                    <a16:rowId xmlns:a16="http://schemas.microsoft.com/office/drawing/2014/main" val="10001"/>
                  </a:ext>
                </a:extLst>
              </a:tr>
              <a:tr h="370840">
                <a:tc vMerge="1">
                  <a:txBody>
                    <a:bodyPr/>
                    <a:lstStyle/>
                    <a:p>
                      <a:endParaRPr lang="en-US"/>
                    </a:p>
                  </a:txBody>
                  <a:tcPr/>
                </a:tc>
                <a:tc>
                  <a:txBody>
                    <a:bodyPr/>
                    <a:lstStyle/>
                    <a:p>
                      <a:r>
                        <a:rPr lang="en-US" dirty="0"/>
                        <a:t>Normal</a:t>
                      </a:r>
                      <a:endParaRPr lang="en-IN" dirty="0"/>
                    </a:p>
                  </a:txBody>
                  <a:tcPr/>
                </a:tc>
                <a:tc>
                  <a:txBody>
                    <a:bodyPr/>
                    <a:lstStyle/>
                    <a:p>
                      <a:r>
                        <a:rPr lang="en-US" dirty="0"/>
                        <a:t>197</a:t>
                      </a:r>
                      <a:endParaRPr lang="en-IN" dirty="0"/>
                    </a:p>
                  </a:txBody>
                  <a:tcPr/>
                </a:tc>
                <a:tc>
                  <a:txBody>
                    <a:bodyPr/>
                    <a:lstStyle/>
                    <a:p>
                      <a:r>
                        <a:rPr lang="en-US" dirty="0"/>
                        <a:t>37</a:t>
                      </a:r>
                      <a:endParaRPr lang="en-IN" dirty="0"/>
                    </a:p>
                  </a:txBody>
                  <a:tcPr/>
                </a:tc>
                <a:extLst>
                  <a:ext uri="{0D108BD9-81ED-4DB2-BD59-A6C34878D82A}">
                    <a16:rowId xmlns:a16="http://schemas.microsoft.com/office/drawing/2014/main" val="10002"/>
                  </a:ext>
                </a:extLst>
              </a:tr>
              <a:tr h="370840">
                <a:tc vMerge="1">
                  <a:txBody>
                    <a:bodyPr/>
                    <a:lstStyle/>
                    <a:p>
                      <a:endParaRPr lang="en-US"/>
                    </a:p>
                  </a:txBody>
                  <a:tcPr/>
                </a:tc>
                <a:tc>
                  <a:txBody>
                    <a:bodyPr/>
                    <a:lstStyle/>
                    <a:p>
                      <a:r>
                        <a:rPr lang="en-IN" dirty="0"/>
                        <a:t>Pneumonia</a:t>
                      </a:r>
                    </a:p>
                  </a:txBody>
                  <a:tcPr/>
                </a:tc>
                <a:tc>
                  <a:txBody>
                    <a:bodyPr/>
                    <a:lstStyle/>
                    <a:p>
                      <a:r>
                        <a:rPr lang="en-US" dirty="0"/>
                        <a:t>62</a:t>
                      </a:r>
                      <a:endParaRPr lang="en-IN" dirty="0"/>
                    </a:p>
                  </a:txBody>
                  <a:tcPr/>
                </a:tc>
                <a:tc>
                  <a:txBody>
                    <a:bodyPr/>
                    <a:lstStyle/>
                    <a:p>
                      <a:r>
                        <a:rPr lang="en-US" dirty="0"/>
                        <a:t>328</a:t>
                      </a:r>
                      <a:endParaRPr lang="en-IN" dirty="0"/>
                    </a:p>
                  </a:txBody>
                  <a:tcP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a:stretch>
            <a:fillRect/>
          </a:stretch>
        </p:blipFill>
        <p:spPr>
          <a:xfrm>
            <a:off x="6667523" y="925635"/>
            <a:ext cx="4451717" cy="2503365"/>
          </a:xfrm>
          <a:prstGeom prst="rect">
            <a:avLst/>
          </a:prstGeom>
        </p:spPr>
      </p:pic>
      <p:pic>
        <p:nvPicPr>
          <p:cNvPr id="8" name="Picture 7"/>
          <p:cNvPicPr>
            <a:picLocks noChangeAspect="1"/>
          </p:cNvPicPr>
          <p:nvPr/>
        </p:nvPicPr>
        <p:blipFill>
          <a:blip r:embed="rId3"/>
          <a:stretch>
            <a:fillRect/>
          </a:stretch>
        </p:blipFill>
        <p:spPr>
          <a:xfrm>
            <a:off x="6667523" y="3735138"/>
            <a:ext cx="4451717" cy="29197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Explainable AI / Grad-CAM</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pic>
        <p:nvPicPr>
          <p:cNvPr id="3" name="Picture 2"/>
          <p:cNvPicPr>
            <a:picLocks noChangeAspect="1"/>
          </p:cNvPicPr>
          <p:nvPr/>
        </p:nvPicPr>
        <p:blipFill>
          <a:blip r:embed="rId2"/>
          <a:stretch>
            <a:fillRect/>
          </a:stretch>
        </p:blipFill>
        <p:spPr>
          <a:xfrm>
            <a:off x="2432304" y="1312660"/>
            <a:ext cx="7510741" cy="49611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err="1"/>
              <a:t>FastAPI</a:t>
            </a:r>
            <a:r>
              <a:rPr lang="en-IN" sz="2400" dirty="0"/>
              <a:t> Web Application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pic>
        <p:nvPicPr>
          <p:cNvPr id="8" name="Picture 7">
            <a:extLst>
              <a:ext uri="{FF2B5EF4-FFF2-40B4-BE49-F238E27FC236}">
                <a16:creationId xmlns:a16="http://schemas.microsoft.com/office/drawing/2014/main" id="{50DE26B3-E06C-28B5-FFE8-B76FA6278C08}"/>
              </a:ext>
            </a:extLst>
          </p:cNvPr>
          <p:cNvPicPr>
            <a:picLocks noChangeAspect="1"/>
          </p:cNvPicPr>
          <p:nvPr/>
        </p:nvPicPr>
        <p:blipFill>
          <a:blip r:embed="rId2"/>
          <a:stretch>
            <a:fillRect/>
          </a:stretch>
        </p:blipFill>
        <p:spPr>
          <a:xfrm>
            <a:off x="451925" y="1207008"/>
            <a:ext cx="5644076" cy="4504182"/>
          </a:xfrm>
          <a:prstGeom prst="rect">
            <a:avLst/>
          </a:prstGeom>
        </p:spPr>
      </p:pic>
      <p:pic>
        <p:nvPicPr>
          <p:cNvPr id="10" name="Picture 9">
            <a:extLst>
              <a:ext uri="{FF2B5EF4-FFF2-40B4-BE49-F238E27FC236}">
                <a16:creationId xmlns:a16="http://schemas.microsoft.com/office/drawing/2014/main" id="{D74BA5DE-0E82-6A47-613B-AA50088BBEDE}"/>
              </a:ext>
            </a:extLst>
          </p:cNvPr>
          <p:cNvPicPr>
            <a:picLocks noChangeAspect="1"/>
          </p:cNvPicPr>
          <p:nvPr/>
        </p:nvPicPr>
        <p:blipFill>
          <a:blip r:embed="rId3"/>
          <a:stretch>
            <a:fillRect/>
          </a:stretch>
        </p:blipFill>
        <p:spPr>
          <a:xfrm>
            <a:off x="6172200" y="1176909"/>
            <a:ext cx="5836919" cy="45041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Performance Evaluation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sp>
        <p:nvSpPr>
          <p:cNvPr id="6" name="TextBox 5"/>
          <p:cNvSpPr txBox="1"/>
          <p:nvPr/>
        </p:nvSpPr>
        <p:spPr>
          <a:xfrm>
            <a:off x="1072134" y="1897194"/>
            <a:ext cx="4662656" cy="1938992"/>
          </a:xfrm>
          <a:prstGeom prst="rect">
            <a:avLst/>
          </a:prstGeom>
          <a:noFill/>
        </p:spPr>
        <p:txBody>
          <a:bodyPr wrap="square">
            <a:spAutoFit/>
          </a:bodyPr>
          <a:lstStyle/>
          <a:p>
            <a:r>
              <a:rPr lang="en-IN" sz="2400" dirty="0"/>
              <a:t>Accuracy:      84.13%</a:t>
            </a:r>
          </a:p>
          <a:p>
            <a:r>
              <a:rPr lang="en-IN" sz="2400" dirty="0"/>
              <a:t>Precision:      89.86%</a:t>
            </a:r>
          </a:p>
          <a:p>
            <a:r>
              <a:rPr lang="en-IN" sz="2400" dirty="0"/>
              <a:t>Recall:            84.10%</a:t>
            </a:r>
          </a:p>
          <a:p>
            <a:r>
              <a:rPr lang="en-IN" sz="2400" dirty="0"/>
              <a:t>F1 Score:       86.89%</a:t>
            </a:r>
          </a:p>
          <a:p>
            <a:r>
              <a:rPr lang="en-IN" sz="2400" dirty="0"/>
              <a:t>ROC-AUC:      91.89%</a:t>
            </a:r>
          </a:p>
        </p:txBody>
      </p:sp>
      <p:pic>
        <p:nvPicPr>
          <p:cNvPr id="8" name="Picture 7"/>
          <p:cNvPicPr>
            <a:picLocks noChangeAspect="1"/>
          </p:cNvPicPr>
          <p:nvPr/>
        </p:nvPicPr>
        <p:blipFill>
          <a:blip r:embed="rId2"/>
          <a:stretch>
            <a:fillRect/>
          </a:stretch>
        </p:blipFill>
        <p:spPr>
          <a:xfrm>
            <a:off x="6457211" y="1897194"/>
            <a:ext cx="4451717" cy="29197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Implementation Status / Future Work</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graphicFrame>
        <p:nvGraphicFramePr>
          <p:cNvPr id="2" name="Table 1"/>
          <p:cNvGraphicFramePr>
            <a:graphicFrameLocks noGrp="1"/>
          </p:cNvGraphicFramePr>
          <p:nvPr/>
        </p:nvGraphicFramePr>
        <p:xfrm>
          <a:off x="2032000" y="1140460"/>
          <a:ext cx="7467600" cy="482092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70840">
                <a:tc>
                  <a:txBody>
                    <a:bodyPr/>
                    <a:lstStyle/>
                    <a:p>
                      <a:pPr>
                        <a:buNone/>
                      </a:pPr>
                      <a:r>
                        <a:rPr lang="en-IN" dirty="0"/>
                        <a:t>Component</a:t>
                      </a:r>
                    </a:p>
                  </a:txBody>
                  <a:tcPr anchor="ctr"/>
                </a:tc>
                <a:tc>
                  <a:txBody>
                    <a:bodyPr/>
                    <a:lstStyle/>
                    <a:p>
                      <a:pPr>
                        <a:buNone/>
                      </a:pPr>
                      <a:r>
                        <a:rPr lang="en-IN"/>
                        <a:t>Status</a:t>
                      </a:r>
                    </a:p>
                  </a:txBody>
                  <a:tcPr anchor="ctr"/>
                </a:tc>
                <a:extLst>
                  <a:ext uri="{0D108BD9-81ED-4DB2-BD59-A6C34878D82A}">
                    <a16:rowId xmlns:a16="http://schemas.microsoft.com/office/drawing/2014/main" val="10000"/>
                  </a:ext>
                </a:extLst>
              </a:tr>
              <a:tr h="370840">
                <a:tc>
                  <a:txBody>
                    <a:bodyPr/>
                    <a:lstStyle/>
                    <a:p>
                      <a:pPr>
                        <a:buNone/>
                      </a:pPr>
                      <a:r>
                        <a:rPr lang="en-IN"/>
                        <a:t>Dataset preprocessing</a:t>
                      </a:r>
                    </a:p>
                  </a:txBody>
                  <a:tcPr anchor="ctr"/>
                </a:tc>
                <a:tc>
                  <a:txBody>
                    <a:bodyPr/>
                    <a:lstStyle/>
                    <a:p>
                      <a:pPr>
                        <a:buNone/>
                      </a:pPr>
                      <a:r>
                        <a:rPr lang="en-IN"/>
                        <a:t>✅ Completed</a:t>
                      </a:r>
                    </a:p>
                  </a:txBody>
                  <a:tcPr anchor="ctr"/>
                </a:tc>
                <a:extLst>
                  <a:ext uri="{0D108BD9-81ED-4DB2-BD59-A6C34878D82A}">
                    <a16:rowId xmlns:a16="http://schemas.microsoft.com/office/drawing/2014/main" val="10001"/>
                  </a:ext>
                </a:extLst>
              </a:tr>
              <a:tr h="370840">
                <a:tc>
                  <a:txBody>
                    <a:bodyPr/>
                    <a:lstStyle/>
                    <a:p>
                      <a:pPr>
                        <a:buNone/>
                      </a:pPr>
                      <a:r>
                        <a:rPr lang="en-IN"/>
                        <a:t>DenseNet-121</a:t>
                      </a:r>
                    </a:p>
                  </a:txBody>
                  <a:tcPr anchor="ctr"/>
                </a:tc>
                <a:tc>
                  <a:txBody>
                    <a:bodyPr/>
                    <a:lstStyle/>
                    <a:p>
                      <a:pPr>
                        <a:buNone/>
                      </a:pPr>
                      <a:r>
                        <a:rPr lang="en-IN"/>
                        <a:t>✅ Completed</a:t>
                      </a:r>
                    </a:p>
                  </a:txBody>
                  <a:tcPr anchor="ctr"/>
                </a:tc>
                <a:extLst>
                  <a:ext uri="{0D108BD9-81ED-4DB2-BD59-A6C34878D82A}">
                    <a16:rowId xmlns:a16="http://schemas.microsoft.com/office/drawing/2014/main" val="10002"/>
                  </a:ext>
                </a:extLst>
              </a:tr>
              <a:tr h="370840">
                <a:tc>
                  <a:txBody>
                    <a:bodyPr/>
                    <a:lstStyle/>
                    <a:p>
                      <a:pPr>
                        <a:buNone/>
                      </a:pPr>
                      <a:r>
                        <a:rPr lang="en-IN"/>
                        <a:t>Model evaluation</a:t>
                      </a:r>
                    </a:p>
                  </a:txBody>
                  <a:tcPr anchor="ctr"/>
                </a:tc>
                <a:tc>
                  <a:txBody>
                    <a:bodyPr/>
                    <a:lstStyle/>
                    <a:p>
                      <a:pPr>
                        <a:buNone/>
                      </a:pPr>
                      <a:r>
                        <a:rPr lang="en-IN"/>
                        <a:t>✅ Completed</a:t>
                      </a:r>
                    </a:p>
                  </a:txBody>
                  <a:tcPr anchor="ctr"/>
                </a:tc>
                <a:extLst>
                  <a:ext uri="{0D108BD9-81ED-4DB2-BD59-A6C34878D82A}">
                    <a16:rowId xmlns:a16="http://schemas.microsoft.com/office/drawing/2014/main" val="10003"/>
                  </a:ext>
                </a:extLst>
              </a:tr>
              <a:tr h="370840">
                <a:tc>
                  <a:txBody>
                    <a:bodyPr/>
                    <a:lstStyle/>
                    <a:p>
                      <a:pPr>
                        <a:buNone/>
                      </a:pPr>
                      <a:r>
                        <a:rPr lang="en-IN"/>
                        <a:t>Confusion matrix</a:t>
                      </a:r>
                    </a:p>
                  </a:txBody>
                  <a:tcPr anchor="ctr"/>
                </a:tc>
                <a:tc>
                  <a:txBody>
                    <a:bodyPr/>
                    <a:lstStyle/>
                    <a:p>
                      <a:pPr>
                        <a:buNone/>
                      </a:pPr>
                      <a:r>
                        <a:rPr lang="en-IN"/>
                        <a:t>✅ Completed</a:t>
                      </a:r>
                    </a:p>
                  </a:txBody>
                  <a:tcPr anchor="ctr"/>
                </a:tc>
                <a:extLst>
                  <a:ext uri="{0D108BD9-81ED-4DB2-BD59-A6C34878D82A}">
                    <a16:rowId xmlns:a16="http://schemas.microsoft.com/office/drawing/2014/main" val="10004"/>
                  </a:ext>
                </a:extLst>
              </a:tr>
              <a:tr h="370840">
                <a:tc>
                  <a:txBody>
                    <a:bodyPr/>
                    <a:lstStyle/>
                    <a:p>
                      <a:pPr>
                        <a:buNone/>
                      </a:pPr>
                      <a:r>
                        <a:rPr lang="en-IN"/>
                        <a:t>Grad-CAM</a:t>
                      </a:r>
                    </a:p>
                  </a:txBody>
                  <a:tcPr anchor="ctr"/>
                </a:tc>
                <a:tc>
                  <a:txBody>
                    <a:bodyPr/>
                    <a:lstStyle/>
                    <a:p>
                      <a:pPr>
                        <a:buNone/>
                      </a:pPr>
                      <a:r>
                        <a:rPr lang="en-IN"/>
                        <a:t>✅ Completed</a:t>
                      </a:r>
                    </a:p>
                  </a:txBody>
                  <a:tcPr anchor="ctr"/>
                </a:tc>
                <a:extLst>
                  <a:ext uri="{0D108BD9-81ED-4DB2-BD59-A6C34878D82A}">
                    <a16:rowId xmlns:a16="http://schemas.microsoft.com/office/drawing/2014/main" val="10005"/>
                  </a:ext>
                </a:extLst>
              </a:tr>
              <a:tr h="370840">
                <a:tc>
                  <a:txBody>
                    <a:bodyPr/>
                    <a:lstStyle/>
                    <a:p>
                      <a:pPr>
                        <a:buNone/>
                      </a:pPr>
                      <a:r>
                        <a:rPr lang="en-IN"/>
                        <a:t>FastAPI prototype</a:t>
                      </a:r>
                    </a:p>
                  </a:txBody>
                  <a:tcPr anchor="ctr"/>
                </a:tc>
                <a:tc>
                  <a:txBody>
                    <a:bodyPr/>
                    <a:lstStyle/>
                    <a:p>
                      <a:pPr>
                        <a:buNone/>
                      </a:pPr>
                      <a:r>
                        <a:rPr lang="en-IN"/>
                        <a:t>✅ Completed</a:t>
                      </a:r>
                    </a:p>
                  </a:txBody>
                  <a:tcPr anchor="ctr"/>
                </a:tc>
                <a:extLst>
                  <a:ext uri="{0D108BD9-81ED-4DB2-BD59-A6C34878D82A}">
                    <a16:rowId xmlns:a16="http://schemas.microsoft.com/office/drawing/2014/main" val="10006"/>
                  </a:ext>
                </a:extLst>
              </a:tr>
              <a:tr h="370840">
                <a:tc>
                  <a:txBody>
                    <a:bodyPr/>
                    <a:lstStyle/>
                    <a:p>
                      <a:pPr>
                        <a:buNone/>
                      </a:pPr>
                      <a:r>
                        <a:rPr lang="en-IN"/>
                        <a:t>Multiple datasets</a:t>
                      </a:r>
                    </a:p>
                  </a:txBody>
                  <a:tcPr anchor="ctr"/>
                </a:tc>
                <a:tc>
                  <a:txBody>
                    <a:bodyPr/>
                    <a:lstStyle/>
                    <a:p>
                      <a:pPr>
                        <a:buNone/>
                      </a:pPr>
                      <a:r>
                        <a:rPr lang="en-IN"/>
                        <a:t>🔄 Future</a:t>
                      </a:r>
                    </a:p>
                  </a:txBody>
                  <a:tcPr anchor="ctr"/>
                </a:tc>
                <a:extLst>
                  <a:ext uri="{0D108BD9-81ED-4DB2-BD59-A6C34878D82A}">
                    <a16:rowId xmlns:a16="http://schemas.microsoft.com/office/drawing/2014/main" val="10007"/>
                  </a:ext>
                </a:extLst>
              </a:tr>
              <a:tr h="370840">
                <a:tc>
                  <a:txBody>
                    <a:bodyPr/>
                    <a:lstStyle/>
                    <a:p>
                      <a:pPr>
                        <a:buNone/>
                      </a:pPr>
                      <a:r>
                        <a:rPr lang="en-IN"/>
                        <a:t>CNN comparison</a:t>
                      </a:r>
                    </a:p>
                  </a:txBody>
                  <a:tcPr anchor="ctr"/>
                </a:tc>
                <a:tc>
                  <a:txBody>
                    <a:bodyPr/>
                    <a:lstStyle/>
                    <a:p>
                      <a:pPr>
                        <a:buNone/>
                      </a:pPr>
                      <a:r>
                        <a:rPr lang="en-IN"/>
                        <a:t>🔄 Future</a:t>
                      </a:r>
                    </a:p>
                  </a:txBody>
                  <a:tcPr anchor="ctr"/>
                </a:tc>
                <a:extLst>
                  <a:ext uri="{0D108BD9-81ED-4DB2-BD59-A6C34878D82A}">
                    <a16:rowId xmlns:a16="http://schemas.microsoft.com/office/drawing/2014/main" val="10008"/>
                  </a:ext>
                </a:extLst>
              </a:tr>
              <a:tr h="370840">
                <a:tc>
                  <a:txBody>
                    <a:bodyPr/>
                    <a:lstStyle/>
                    <a:p>
                      <a:pPr>
                        <a:buNone/>
                      </a:pPr>
                      <a:r>
                        <a:rPr lang="en-IN"/>
                        <a:t>EfficientNet</a:t>
                      </a:r>
                    </a:p>
                  </a:txBody>
                  <a:tcPr anchor="ctr"/>
                </a:tc>
                <a:tc>
                  <a:txBody>
                    <a:bodyPr/>
                    <a:lstStyle/>
                    <a:p>
                      <a:pPr>
                        <a:buNone/>
                      </a:pPr>
                      <a:r>
                        <a:rPr lang="en-IN"/>
                        <a:t>🔄 Future</a:t>
                      </a:r>
                    </a:p>
                  </a:txBody>
                  <a:tcPr anchor="ctr"/>
                </a:tc>
                <a:extLst>
                  <a:ext uri="{0D108BD9-81ED-4DB2-BD59-A6C34878D82A}">
                    <a16:rowId xmlns:a16="http://schemas.microsoft.com/office/drawing/2014/main" val="10009"/>
                  </a:ext>
                </a:extLst>
              </a:tr>
              <a:tr h="370840">
                <a:tc>
                  <a:txBody>
                    <a:bodyPr/>
                    <a:lstStyle/>
                    <a:p>
                      <a:pPr>
                        <a:buNone/>
                      </a:pPr>
                      <a:r>
                        <a:rPr lang="en-IN" dirty="0"/>
                        <a:t>Transformer</a:t>
                      </a:r>
                    </a:p>
                  </a:txBody>
                  <a:tcPr anchor="ctr"/>
                </a:tc>
                <a:tc>
                  <a:txBody>
                    <a:bodyPr/>
                    <a:lstStyle/>
                    <a:p>
                      <a:pPr>
                        <a:buNone/>
                      </a:pPr>
                      <a:r>
                        <a:rPr lang="en-IN"/>
                        <a:t>🔄 Future</a:t>
                      </a:r>
                    </a:p>
                  </a:txBody>
                  <a:tcPr anchor="ctr"/>
                </a:tc>
                <a:extLst>
                  <a:ext uri="{0D108BD9-81ED-4DB2-BD59-A6C34878D82A}">
                    <a16:rowId xmlns:a16="http://schemas.microsoft.com/office/drawing/2014/main" val="10010"/>
                  </a:ext>
                </a:extLst>
              </a:tr>
              <a:tr h="370840">
                <a:tc>
                  <a:txBody>
                    <a:bodyPr/>
                    <a:lstStyle/>
                    <a:p>
                      <a:pPr>
                        <a:buNone/>
                      </a:pPr>
                      <a:r>
                        <a:rPr lang="en-IN"/>
                        <a:t>BERT + LLM</a:t>
                      </a:r>
                    </a:p>
                  </a:txBody>
                  <a:tcPr anchor="ctr"/>
                </a:tc>
                <a:tc>
                  <a:txBody>
                    <a:bodyPr/>
                    <a:lstStyle/>
                    <a:p>
                      <a:pPr>
                        <a:buNone/>
                      </a:pPr>
                      <a:r>
                        <a:rPr lang="en-IN"/>
                        <a:t>🔄 Future</a:t>
                      </a:r>
                    </a:p>
                  </a:txBody>
                  <a:tcPr anchor="ctr"/>
                </a:tc>
                <a:extLst>
                  <a:ext uri="{0D108BD9-81ED-4DB2-BD59-A6C34878D82A}">
                    <a16:rowId xmlns:a16="http://schemas.microsoft.com/office/drawing/2014/main" val="10011"/>
                  </a:ext>
                </a:extLst>
              </a:tr>
              <a:tr h="370840">
                <a:tc>
                  <a:txBody>
                    <a:bodyPr/>
                    <a:lstStyle/>
                    <a:p>
                      <a:pPr>
                        <a:buNone/>
                      </a:pPr>
                      <a:r>
                        <a:rPr lang="en-IN" dirty="0"/>
                        <a:t>React frontend</a:t>
                      </a:r>
                    </a:p>
                  </a:txBody>
                  <a:tcPr anchor="ctr"/>
                </a:tc>
                <a:tc>
                  <a:txBody>
                    <a:bodyPr/>
                    <a:lstStyle/>
                    <a:p>
                      <a:pPr>
                        <a:buNone/>
                      </a:pPr>
                      <a:r>
                        <a:rPr lang="en-IN" dirty="0"/>
                        <a:t>🔄 Future</a:t>
                      </a:r>
                    </a:p>
                  </a:txBody>
                  <a:tcPr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Conclusion</a:t>
            </a:r>
            <a:endParaRPr lang="en-US" sz="2400" b="1" dirty="0">
              <a:solidFill>
                <a:schemeClr val="bg1"/>
              </a:solidFill>
            </a:endParaRPr>
          </a:p>
        </p:txBody>
      </p:sp>
      <p:sp>
        <p:nvSpPr>
          <p:cNvPr id="5" name="TextBox 4"/>
          <p:cNvSpPr txBox="1"/>
          <p:nvPr/>
        </p:nvSpPr>
        <p:spPr>
          <a:xfrm>
            <a:off x="724662" y="1405051"/>
            <a:ext cx="6094476" cy="369332"/>
          </a:xfrm>
          <a:prstGeom prst="rect">
            <a:avLst/>
          </a:prstGeom>
          <a:noFill/>
        </p:spPr>
        <p:txBody>
          <a:bodyPr wrap="square">
            <a:spAutoFit/>
          </a:bodyPr>
          <a:lstStyle/>
          <a:p>
            <a:endParaRPr lang="en-IN" dirty="0"/>
          </a:p>
        </p:txBody>
      </p:sp>
      <p:sp>
        <p:nvSpPr>
          <p:cNvPr id="6" name="TextBox 5"/>
          <p:cNvSpPr txBox="1"/>
          <p:nvPr/>
        </p:nvSpPr>
        <p:spPr>
          <a:xfrm>
            <a:off x="1288025" y="1774383"/>
            <a:ext cx="10028903" cy="3046988"/>
          </a:xfrm>
          <a:prstGeom prst="rect">
            <a:avLst/>
          </a:prstGeom>
          <a:noFill/>
        </p:spPr>
        <p:txBody>
          <a:bodyPr wrap="square">
            <a:spAutoFit/>
          </a:bodyPr>
          <a:lstStyle/>
          <a:p>
            <a:pPr>
              <a:buNone/>
            </a:pPr>
            <a:r>
              <a:rPr lang="en-IN" sz="2400" dirty="0"/>
              <a:t>A working VS Code-based pneumonia detection prototype was developed using DenseNet-121 transfer learning.</a:t>
            </a:r>
          </a:p>
          <a:p>
            <a:pPr>
              <a:buNone/>
            </a:pPr>
            <a:r>
              <a:rPr lang="en-IN" sz="2400" dirty="0"/>
              <a:t>The model was evaluated using multiple classification metrics.</a:t>
            </a:r>
          </a:p>
          <a:p>
            <a:pPr>
              <a:buNone/>
            </a:pPr>
            <a:r>
              <a:rPr lang="en-IN" sz="2400" dirty="0"/>
              <a:t>Grad-CAM was implemented to provide visual model explanations.</a:t>
            </a:r>
          </a:p>
          <a:p>
            <a:pPr>
              <a:buNone/>
            </a:pPr>
            <a:r>
              <a:rPr lang="en-IN" sz="2400" dirty="0"/>
              <a:t>A </a:t>
            </a:r>
            <a:r>
              <a:rPr lang="en-IN" sz="2400" dirty="0" err="1"/>
              <a:t>FastAPI</a:t>
            </a:r>
            <a:r>
              <a:rPr lang="en-IN" sz="2400" dirty="0"/>
              <a:t> interface was developed for image upload, prediction and explanation.</a:t>
            </a:r>
          </a:p>
          <a:p>
            <a:pPr>
              <a:buNone/>
            </a:pPr>
            <a:r>
              <a:rPr lang="en-IN" sz="2400" dirty="0"/>
              <a:t>The implementation provides the foundation for future multi-dataset and multi-model experimentation.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1,400+ Thank You On Red Stock Photos, Pictures &amp; Royalty-Free Images -  iStock"/>
          <p:cNvPicPr>
            <a:picLocks noChangeAspect="1"/>
          </p:cNvPicPr>
          <p:nvPr/>
        </p:nvPicPr>
        <p:blipFill>
          <a:blip r:embed="rId2"/>
          <a:stretch>
            <a:fillRect/>
          </a:stretch>
        </p:blipFill>
        <p:spPr>
          <a:xfrm>
            <a:off x="3411794" y="1585451"/>
            <a:ext cx="5594554" cy="3687097"/>
          </a:xfrm>
          <a:prstGeom prst="rect">
            <a:avLst/>
          </a:prstGeom>
        </p:spPr>
      </p:pic>
    </p:spTree>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TOC EVAL PLAN</Template>
  <TotalTime>2</TotalTime>
  <Words>1150</Words>
  <Application>Microsoft Office PowerPoint</Application>
  <PresentationFormat>Widescreen</PresentationFormat>
  <Paragraphs>248</Paragraphs>
  <Slides>21</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21</vt:i4>
      </vt:variant>
    </vt:vector>
  </HeadingPairs>
  <TitlesOfParts>
    <vt:vector size="31" baseType="lpstr">
      <vt:lpstr>Arial</vt:lpstr>
      <vt:lpstr>BioRhyme ExtraBold</vt:lpstr>
      <vt:lpstr>Calibri</vt:lpstr>
      <vt:lpstr>Calibri Light</vt:lpstr>
      <vt:lpstr>Poppins</vt:lpstr>
      <vt:lpstr>Times New Roman</vt:lpstr>
      <vt:lpstr>2_Custom Design</vt:lpstr>
      <vt:lpstr>1_Custom Design</vt:lpstr>
      <vt:lpstr>Custom Design</vt:lpstr>
      <vt:lpstr>Office Theme</vt:lpstr>
      <vt:lpstr>COURSE NAME:  Applied Machine Learning In Text Analysis COURSE CODE: 24ALT3101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Rajashekar Mungimalla</dc:creator>
  <cp:lastModifiedBy>M Thanvitha</cp:lastModifiedBy>
  <cp:revision>113</cp:revision>
  <dcterms:created xsi:type="dcterms:W3CDTF">2024-06-24T07:50:00Z</dcterms:created>
  <dcterms:modified xsi:type="dcterms:W3CDTF">2026-10-29T03:04:47Z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EC4996F8E616437DA670D315A78CCA91_13</vt:lpwstr>
  </property>
  <property fmtid="{D5CDD505-2E9C-101B-9397-08002B2CF9AE}" pid="3" name="KSOProductBuildVer">
    <vt:lpwstr>1033-12.1.0.28485</vt:lpwstr>
  </property>
</Properties>
</file>